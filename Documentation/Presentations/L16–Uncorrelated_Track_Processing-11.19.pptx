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  <p:sldMasterId id="2147483669" r:id="rId2"/>
  </p:sldMasterIdLst>
  <p:notesMasterIdLst>
    <p:notesMasterId r:id="rId13"/>
  </p:notesMasterIdLst>
  <p:sldIdLst>
    <p:sldId id="256" r:id="rId3"/>
    <p:sldId id="257" r:id="rId4"/>
    <p:sldId id="448" r:id="rId5"/>
    <p:sldId id="1042653389" r:id="rId6"/>
    <p:sldId id="1042653409" r:id="rId7"/>
    <p:sldId id="1042653410" r:id="rId8"/>
    <p:sldId id="1042653408" r:id="rId9"/>
    <p:sldId id="1042653394" r:id="rId10"/>
    <p:sldId id="1042653393" r:id="rId11"/>
    <p:sldId id="268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1F3D735-CA63-4AEC-A0B3-ED3692785BA0}">
          <p14:sldIdLst>
            <p14:sldId id="256"/>
            <p14:sldId id="257"/>
            <p14:sldId id="448"/>
            <p14:sldId id="1042653389"/>
            <p14:sldId id="1042653409"/>
            <p14:sldId id="1042653410"/>
            <p14:sldId id="1042653408"/>
            <p14:sldId id="1042653394"/>
            <p14:sldId id="1042653393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2566" autoAdjust="0"/>
  </p:normalViewPr>
  <p:slideViewPr>
    <p:cSldViewPr snapToGrid="0">
      <p:cViewPr varScale="1">
        <p:scale>
          <a:sx n="136" d="100"/>
          <a:sy n="136" d="100"/>
        </p:scale>
        <p:origin x="1098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qOn2pm9OjXSjxoBUyUC-49Dlh3nKoDHPKNnFptZTepg/edit?tab=t.ul8jz3jiot2h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b8301f814_2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" name="Google Shape;102;g39b8301f814_2_5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- FILL IN / REMOVE ALL NOTES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b8301f814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2" name="Google Shape;112;g39b8301f814_2_6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296BA-15CB-043E-048F-3D114C47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F296C-20A9-3020-3FB4-948D8F24F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F8E2E-0BE2-3089-5972-721944901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382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E718-068D-86E4-51C1-521A653D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73EDE-A6D7-89AB-71A6-DF7EF6DE2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42EC1-2A1C-DAC7-91DC-CBAECB7C8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97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ACC78-256E-5237-B931-7A8534AAA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DD029-15E2-A8A7-2202-5BA618DCA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6B2EF0-FDCF-CAF4-3D9B-90C5A5629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587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35424-B733-DBB6-61D3-1B6F7FFB4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2C808-9F75-0ED5-AD72-936632A11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DBD4B-0809-32F3-CF2F-865DB56E5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06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4935D-EF2D-EA3D-465F-11C01D82C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654A1-E467-AD46-4574-C21410EE5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C6868-F39D-B3BE-06DE-B6748F280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442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77471-A0B1-F5E9-5881-E2F7DCFAC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A1082-A460-D148-FE6C-6BDB2D3EB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C5BA7-5D6B-0C43-9174-8340C7644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 when doing research on how the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openevolve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architecture works, one thing I’m trying to figure out is what is it that we are trying to implement into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openevolve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? We’ve talked about the usage of benchmarking with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openevolve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and so how does UCTP correlated with it?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See about integrating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OpenEvolve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logic using the already engineered metrics as a point of comparison. In other words, use the metrics from the Evaluation pipeline to inform possible enhancements to the providers’ algorithms via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OpenEvolve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This would be a nice addition to the scope of the framework but is not necessary should time not permit; do this last. See the </a:t>
            </a:r>
            <a:r>
              <a:rPr lang="en-US" sz="1100" b="0" i="0" u="sng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OpenEvolve</a:t>
            </a:r>
            <a:r>
              <a:rPr lang="en-US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 Proposal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for more details.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How does the evaluation pipeline inform possible enhancements to the providers’ algorithm?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94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b8301f814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2" name="Google Shape;222;g39b8301f814_2_14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685800" y="1468377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371600" y="2330041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1371600" y="3509429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2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6" name="Google Shape;66;p15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722435" y="1993106"/>
            <a:ext cx="7772400" cy="91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2"/>
          </p:nvPr>
        </p:nvSpPr>
        <p:spPr>
          <a:xfrm>
            <a:off x="722435" y="2912273"/>
            <a:ext cx="7772400" cy="36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207172" y="664370"/>
            <a:ext cx="4294493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642341" y="664370"/>
            <a:ext cx="43087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5" name="Google Shape;75;p17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207172" y="664374"/>
            <a:ext cx="3258469" cy="41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3575540" y="664370"/>
            <a:ext cx="53755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207172" y="1076326"/>
            <a:ext cx="3258469" cy="35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9" name="Google Shape;89;p19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19"/>
          <p:cNvSpPr txBox="1"/>
          <p:nvPr/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Title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1792166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>
            <a:spLocks noGrp="1"/>
          </p:cNvSpPr>
          <p:nvPr>
            <p:ph type="pic" idx="2"/>
          </p:nvPr>
        </p:nvSpPr>
        <p:spPr>
          <a:xfrm>
            <a:off x="1792166" y="664370"/>
            <a:ext cx="5486400" cy="2881311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1792166" y="4025504"/>
            <a:ext cx="5486400" cy="56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body" idx="1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8" name="Google Shape;98;p21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170" y="56393"/>
            <a:ext cx="7341339" cy="351234"/>
          </a:xfrm>
          <a:prstGeom prst="rect">
            <a:avLst/>
          </a:prstGeom>
        </p:spPr>
        <p:txBody>
          <a:bodyPr anchor="ctr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69" y="664369"/>
            <a:ext cx="8743950" cy="3930258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75" i="1" baseline="0"/>
            </a:lvl1pPr>
          </a:lstStyle>
          <a:p>
            <a:pPr lvl="0"/>
            <a:r>
              <a:rPr lang="en-US"/>
              <a:t>Figure or Table N: Caption.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D28861-EA7A-5C09-B3F3-3763539B7998}"/>
              </a:ext>
            </a:extLst>
          </p:cNvPr>
          <p:cNvCxnSpPr/>
          <p:nvPr userDrawn="1"/>
        </p:nvCxnSpPr>
        <p:spPr bwMode="auto">
          <a:xfrm>
            <a:off x="-7144" y="495678"/>
            <a:ext cx="9155430" cy="0"/>
          </a:xfrm>
          <a:prstGeom prst="line">
            <a:avLst/>
          </a:prstGeom>
          <a:solidFill>
            <a:srgbClr val="FFFFFF"/>
          </a:solidFill>
          <a:ln w="66675" cap="flat" cmpd="sng" algn="ctr">
            <a:solidFill>
              <a:srgbClr val="FFCA0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004805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207169" y="664374"/>
            <a:ext cx="4290098" cy="49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207169" y="1159669"/>
            <a:ext cx="4290098" cy="343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3"/>
          </p:nvPr>
        </p:nvSpPr>
        <p:spPr>
          <a:xfrm>
            <a:off x="4645273" y="664374"/>
            <a:ext cx="4305848" cy="49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4"/>
          </p:nvPr>
        </p:nvSpPr>
        <p:spPr>
          <a:xfrm>
            <a:off x="4645273" y="1159669"/>
            <a:ext cx="4305848" cy="343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5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3" name="Google Shape;83;p18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27094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92890" y="4833388"/>
            <a:ext cx="8851110" cy="308610"/>
          </a:xfrm>
          <a:prstGeom prst="rect">
            <a:avLst/>
          </a:prstGeom>
          <a:solidFill>
            <a:srgbClr val="FFCA0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8765195" y="4914197"/>
            <a:ext cx="304800" cy="1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7529944" y="62894"/>
            <a:ext cx="1614056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sz="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4731490" y="4843898"/>
            <a:ext cx="3911703" cy="30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 Statement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Only if applicable.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Change me by “View” then “Slide Master”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3" descr="The Center for Advanced Turbomachinery &amp;amp; Energy Research – CATERing to the  energy needs of society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514008" y="4911826"/>
            <a:ext cx="515690" cy="161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descr="Graphical user interface, text, application, email&#10;&#10;Description automatically generated"/>
          <p:cNvPicPr preferRelativeResize="0"/>
          <p:nvPr/>
        </p:nvPicPr>
        <p:blipFill rotWithShape="1">
          <a:blip r:embed="rId13">
            <a:alphaModFix/>
          </a:blip>
          <a:srcRect l="22599" t="16593" r="11037" b="35871"/>
          <a:stretch/>
        </p:blipFill>
        <p:spPr>
          <a:xfrm>
            <a:off x="350040" y="4857511"/>
            <a:ext cx="1138519" cy="25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14">
            <a:alphaModFix/>
          </a:blip>
          <a:srcRect t="-1" r="82893" b="30586"/>
          <a:stretch/>
        </p:blipFill>
        <p:spPr>
          <a:xfrm>
            <a:off x="0" y="4833389"/>
            <a:ext cx="292890" cy="3101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72" r:id="rId9"/>
    <p:sldLayoutId id="214748367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6775" y="64978"/>
            <a:ext cx="657225" cy="621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3"/>
          <p:cNvSpPr txBox="1">
            <a:spLocks noGrp="1"/>
          </p:cNvSpPr>
          <p:nvPr>
            <p:ph type="ctrTitle"/>
          </p:nvPr>
        </p:nvSpPr>
        <p:spPr>
          <a:xfrm>
            <a:off x="685800" y="1612756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L16 – Uncorrelated Track Processing</a:t>
            </a:r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1"/>
          </p:nvPr>
        </p:nvSpPr>
        <p:spPr>
          <a:xfrm>
            <a:off x="1371600" y="2474420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By: Kyle Galang, Aurela Broqi, Ruben Dennis, Aaron Nogues, Ezra Stone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Project Maturation	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Course Finalization for Senior Design 1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Development Updates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Current Focus and Needs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UCT Diagram and Metrics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6D State Vector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Questions and Discussions</a:t>
            </a:r>
            <a:endParaRPr lang="en-US" dirty="0"/>
          </a:p>
        </p:txBody>
      </p:sp>
      <p:pic>
        <p:nvPicPr>
          <p:cNvPr id="116" name="Google Shape;11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BE08-3C3C-E568-3D6D-148578B2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E129-DA6A-82A1-E56F-D365C8A1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Project Maturation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F89E-A7F1-0858-0590-AA1E826B4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b="1" dirty="0"/>
              <a:t>The following items to be discussed</a:t>
            </a:r>
          </a:p>
          <a:p>
            <a:pPr lvl="1"/>
            <a:r>
              <a:rPr lang="en-US" sz="1200" dirty="0"/>
              <a:t>Environment Setup:</a:t>
            </a:r>
          </a:p>
          <a:p>
            <a:pPr lvl="2"/>
            <a:r>
              <a:rPr lang="en-US" sz="1200" dirty="0"/>
              <a:t>GitHub Repository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/>
            <a:r>
              <a:rPr lang="en-US" sz="1200" dirty="0"/>
              <a:t>SDA TAP Lab &amp; UDA access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/>
            <a:r>
              <a:rPr lang="en-US" sz="1200" dirty="0"/>
              <a:t>Open </a:t>
            </a:r>
            <a:r>
              <a:rPr lang="en-US" sz="1200" dirty="0" err="1"/>
              <a:t>Ondemand</a:t>
            </a:r>
            <a:r>
              <a:rPr lang="en-US" sz="1200" dirty="0"/>
              <a:t> – </a:t>
            </a:r>
            <a:r>
              <a:rPr lang="en-US" sz="1200" i="1" dirty="0">
                <a:solidFill>
                  <a:srgbClr val="C00000"/>
                </a:solidFill>
              </a:rPr>
              <a:t>identified later through the access of HPC</a:t>
            </a:r>
          </a:p>
          <a:p>
            <a:pPr lvl="2"/>
            <a:r>
              <a:rPr lang="en-US" sz="1200" dirty="0"/>
              <a:t>Documentation – </a:t>
            </a:r>
            <a:r>
              <a:rPr lang="en-US" sz="1200" i="1" dirty="0">
                <a:solidFill>
                  <a:srgbClr val="FFC000"/>
                </a:solidFill>
              </a:rPr>
              <a:t>ongoing as we develop further into symbolic regression benchmarking example</a:t>
            </a:r>
            <a:br>
              <a:rPr lang="en-US" sz="1200" i="1" dirty="0">
                <a:solidFill>
                  <a:srgbClr val="FFC000"/>
                </a:solidFill>
              </a:rPr>
            </a:br>
            <a:endParaRPr lang="en-US" sz="1200" i="1" dirty="0">
              <a:solidFill>
                <a:srgbClr val="00B050"/>
              </a:solidFill>
            </a:endParaRPr>
          </a:p>
          <a:p>
            <a:pPr lvl="1"/>
            <a:r>
              <a:rPr lang="en-US" sz="1200" dirty="0"/>
              <a:t>Design level requirements:</a:t>
            </a:r>
          </a:p>
          <a:p>
            <a:pPr lvl="2"/>
            <a:r>
              <a:rPr lang="en-US" sz="1200" dirty="0"/>
              <a:t>Design Schematics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/>
            <a:r>
              <a:rPr lang="en-US" sz="1200" dirty="0"/>
              <a:t>Tech Stack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  <a:br>
              <a:rPr lang="en-US" sz="1200" i="1" dirty="0">
                <a:solidFill>
                  <a:srgbClr val="C00000"/>
                </a:solidFill>
              </a:rPr>
            </a:br>
            <a:br>
              <a:rPr lang="en-US" sz="1200" i="1" dirty="0">
                <a:solidFill>
                  <a:srgbClr val="C00000"/>
                </a:solidFill>
              </a:rPr>
            </a:br>
            <a:r>
              <a:rPr lang="en-US" sz="1200" dirty="0"/>
              <a:t>Development:</a:t>
            </a:r>
          </a:p>
          <a:p>
            <a:pPr lvl="2"/>
            <a:r>
              <a:rPr lang="en-US" sz="1200" dirty="0"/>
              <a:t>Graphical User Interface – </a:t>
            </a:r>
            <a:r>
              <a:rPr lang="en-US" sz="1200" i="1" dirty="0">
                <a:solidFill>
                  <a:srgbClr val="00B050"/>
                </a:solidFill>
              </a:rPr>
              <a:t>mature </a:t>
            </a:r>
          </a:p>
          <a:p>
            <a:pPr lvl="2"/>
            <a:r>
              <a:rPr lang="en-US" sz="1200" dirty="0"/>
              <a:t>LLM development – </a:t>
            </a:r>
            <a:r>
              <a:rPr lang="en-US" sz="1200" i="1" dirty="0">
                <a:solidFill>
                  <a:srgbClr val="FFC000"/>
                </a:solidFill>
              </a:rPr>
              <a:t>development phase</a:t>
            </a:r>
          </a:p>
          <a:p>
            <a:pPr lvl="2"/>
            <a:r>
              <a:rPr lang="en-US" sz="1200" dirty="0"/>
              <a:t>Validity environment testing  – </a:t>
            </a:r>
            <a:r>
              <a:rPr lang="en-US" sz="1200" i="1" dirty="0">
                <a:solidFill>
                  <a:srgbClr val="C00000"/>
                </a:solidFill>
              </a:rPr>
              <a:t>identified later when Open OnDemand gets set up</a:t>
            </a:r>
            <a:br>
              <a:rPr lang="en-US" sz="900" i="1" dirty="0">
                <a:solidFill>
                  <a:srgbClr val="C00000"/>
                </a:solidFill>
              </a:rPr>
            </a:br>
            <a:br>
              <a:rPr lang="en-US" sz="863" dirty="0"/>
            </a:br>
            <a:endParaRPr lang="en-US" sz="975" dirty="0"/>
          </a:p>
          <a:p>
            <a:pPr lvl="1"/>
            <a:endParaRPr lang="en-US" sz="1050" dirty="0"/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B1205B4E-A8D5-8036-860A-8FC43AD95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E883644B-C931-103B-46FB-3E8885AC93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CA8515B6-1274-7A0C-D4E1-A529D1F342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388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3F4A3-DCCC-D701-7234-5F5DD52AC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AF3B-4201-903B-FDC0-6B3CF7E1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Course Finalization for Senior Design 1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34D678A6-889B-3B3A-B02A-D9EADE7A59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F86F9920-104C-A1CC-B2E1-D13FB3EE48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701087E1-F3E1-8AA8-AF07-A73AB5D8A4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6DF4F5-4C26-00E2-F2D2-92865AB46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10" y="604911"/>
            <a:ext cx="5176655" cy="29348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80564A-234B-E617-2ECB-363E78ED7BD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3661"/>
          <a:stretch>
            <a:fillRect/>
          </a:stretch>
        </p:blipFill>
        <p:spPr>
          <a:xfrm>
            <a:off x="5332065" y="604602"/>
            <a:ext cx="3481654" cy="29351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CD7B08-A723-8A51-A5DC-BA0EE6641D20}"/>
              </a:ext>
            </a:extLst>
          </p:cNvPr>
          <p:cNvSpPr txBox="1"/>
          <p:nvPr/>
        </p:nvSpPr>
        <p:spPr>
          <a:xfrm>
            <a:off x="155410" y="3657600"/>
            <a:ext cx="86449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Team has to deliver a 100-page document by Monday (11/24) to end Senior Design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Senior Design 1 is the planning stage for our curriculum to get project scope and timelines sorted.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Being able to identify minimum viable product and project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Senior Design 2 is meant for strict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Team has already started development.</a:t>
            </a:r>
          </a:p>
        </p:txBody>
      </p:sp>
    </p:spTree>
    <p:extLst>
      <p:ext uri="{BB962C8B-B14F-4D97-AF65-F5344CB8AC3E}">
        <p14:creationId xmlns:p14="http://schemas.microsoft.com/office/powerpoint/2010/main" val="342368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98AA-5F90-7A42-3EDC-50B9CE3D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871A-18AE-B584-A52F-14DA839AB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Development Updates no. 2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0CFFF6BF-4A67-5D8A-8D2F-4CE7A30C0F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3728397F-C317-5520-B385-69D2CE7FAB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70CC9CBE-F2C0-CEBF-0678-E58F3D1743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96D50D7-3ECB-517A-9414-6DA902A852CB}"/>
              </a:ext>
            </a:extLst>
          </p:cNvPr>
          <p:cNvSpPr txBox="1"/>
          <p:nvPr/>
        </p:nvSpPr>
        <p:spPr>
          <a:xfrm>
            <a:off x="207170" y="3845431"/>
            <a:ext cx="86449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Analytics Console design is finished.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Currently trying to implement UCT data into different metrics of the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Hard stop on </a:t>
            </a:r>
            <a:r>
              <a:rPr lang="en-US" sz="1200" dirty="0" err="1"/>
              <a:t>OpenEvolve</a:t>
            </a:r>
            <a:r>
              <a:rPr lang="en-US" sz="1200" dirty="0"/>
              <a:t>-UCT output. (need working UCT processor to start getting outputs from </a:t>
            </a:r>
            <a:r>
              <a:rPr lang="en-US" sz="1200" dirty="0" err="1"/>
              <a:t>OpenEvolve</a:t>
            </a:r>
            <a:r>
              <a:rPr lang="en-US" sz="1200" dirty="0"/>
              <a:t> to understand logic of Analytics Console)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Chat bot is working for initial program/evaluator code generation but still has some bugs that we are fixing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F440C7-7AB9-FF09-7FA7-8F37E1391D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769" y="561329"/>
            <a:ext cx="6836461" cy="3243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48630F-9C42-8160-265F-E953F4BCC1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769" y="561329"/>
            <a:ext cx="6843999" cy="32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490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F4D16-A47D-894C-CF37-5EC60AE07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9142-D929-BB34-4FAA-681EC8981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Development Updates no. 2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510A3A37-C5E7-7B68-055D-3A2113E17E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35AEA6C9-BF3B-E49D-4ACA-8094B44001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6573A7F2-6CC1-B33E-86E7-B2C6E6087F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EC8E5F-8E1E-A16F-806C-D19934CE0AB7}"/>
              </a:ext>
            </a:extLst>
          </p:cNvPr>
          <p:cNvSpPr txBox="1"/>
          <p:nvPr/>
        </p:nvSpPr>
        <p:spPr>
          <a:xfrm>
            <a:off x="207170" y="3845431"/>
            <a:ext cx="86449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Analytics Console design is finished.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Currently trying to implement UCT data into different metrics of the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Hard stop on </a:t>
            </a:r>
            <a:r>
              <a:rPr lang="en-US" sz="1200" dirty="0" err="1"/>
              <a:t>OpenEvolve</a:t>
            </a:r>
            <a:r>
              <a:rPr lang="en-US" sz="1200" dirty="0"/>
              <a:t>-UCT output. (need working UCT processor to start getting outputs from </a:t>
            </a:r>
            <a:r>
              <a:rPr lang="en-US" sz="1200" dirty="0" err="1"/>
              <a:t>OpenEvolve</a:t>
            </a:r>
            <a:r>
              <a:rPr lang="en-US" sz="1200" dirty="0"/>
              <a:t> to understand logic of Analytics Console)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Chat bot is working for initial program/evaluator code generation but still has some bugs that we are fixing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82697B-E10A-44CD-9AB5-2FFFC78C9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769" y="561329"/>
            <a:ext cx="6836461" cy="32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24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DE4A-1F51-5291-CE03-5454DA9E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C5B3-4A44-3FCF-5FA1-05ACF2DE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Current Focus and Needs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5EAB4507-0303-6F98-E9E5-0479D756B0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BEED7DD7-CF4D-1F2C-1266-68CC43B942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CF38F5BF-9773-15E7-D75C-22EC816914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9DF87E-2634-CF2E-2B88-61E6FE18851A}"/>
              </a:ext>
            </a:extLst>
          </p:cNvPr>
          <p:cNvSpPr txBox="1"/>
          <p:nvPr/>
        </p:nvSpPr>
        <p:spPr>
          <a:xfrm>
            <a:off x="249534" y="746967"/>
            <a:ext cx="86449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for UCT processor to start implementing UCT logic and metrics into </a:t>
            </a:r>
            <a:r>
              <a:rPr lang="en-US" dirty="0" err="1"/>
              <a:t>OpenEvolve</a:t>
            </a:r>
            <a:r>
              <a:rPr lang="en-US" dirty="0"/>
              <a:t> Architecture.</a:t>
            </a:r>
            <a:br>
              <a:rPr lang="en-US" dirty="0"/>
            </a:br>
            <a:r>
              <a:rPr lang="en-US" dirty="0"/>
              <a:t>- This helps continue graphical user-interface (GUI) development and LLM training. Alongside trying to solve to see if </a:t>
            </a:r>
            <a:r>
              <a:rPr lang="en-US" dirty="0" err="1"/>
              <a:t>OpenEvolve</a:t>
            </a:r>
            <a:r>
              <a:rPr lang="en-US" dirty="0"/>
              <a:t> and benchmark 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Team members are excited now that a lot of the planning is done for the project and semester is over. (have a lot more time with development and really working with </a:t>
            </a:r>
            <a:r>
              <a:rPr lang="en-US" dirty="0" err="1"/>
              <a:t>OpenEvolve</a:t>
            </a:r>
            <a:r>
              <a:rPr lang="en-US" dirty="0"/>
              <a:t> and UCT)</a:t>
            </a:r>
          </a:p>
        </p:txBody>
      </p:sp>
    </p:spTree>
    <p:extLst>
      <p:ext uri="{BB962C8B-B14F-4D97-AF65-F5344CB8AC3E}">
        <p14:creationId xmlns:p14="http://schemas.microsoft.com/office/powerpoint/2010/main" val="172407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89850-F956-0BE0-3493-DD2FDE11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E37C-08D6-A912-8BB5-F1A8F36A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UCT: Diagram and Metrics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EDCC903B-85A8-5981-4814-8ECBF1CA81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C630F781-1288-A4C4-B4F3-61C19EB75F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AFC517D3-56EB-78FD-EC70-49882F3B08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24F0A9-AB28-3B86-3654-820136EE2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169" y="547341"/>
            <a:ext cx="1947428" cy="41801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046089-F643-D5F2-15F3-35D71D66F8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6809" y="544287"/>
            <a:ext cx="2569500" cy="40912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29B0CD-9D6F-3003-BE12-B7DDF15A61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4521" y="1781872"/>
            <a:ext cx="284797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3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2758F-1837-8253-1790-FA3AF0D7D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993E8-C460-F7FE-844A-F3D6E0A7AA1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488965" y="964284"/>
            <a:ext cx="4305848" cy="3433762"/>
          </a:xfrm>
        </p:spPr>
        <p:txBody>
          <a:bodyPr/>
          <a:lstStyle/>
          <a:p>
            <a:r>
              <a:rPr lang="en-US" dirty="0"/>
              <a:t>How to minimize:</a:t>
            </a:r>
          </a:p>
          <a:p>
            <a:pPr lvl="1"/>
            <a:r>
              <a:rPr lang="en-US" dirty="0"/>
              <a:t>We want to use </a:t>
            </a:r>
            <a:r>
              <a:rPr lang="en-US" b="1" dirty="0"/>
              <a:t>least-squares optimization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622300" lvl="1" indent="0">
              <a:buNone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A62ECAC-BFE7-CB2F-FBEC-1364203BA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6D State Vector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2D8A3-D213-1D2F-B33C-9B5FC8F6A62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18398" y="550069"/>
            <a:ext cx="4290098" cy="3433762"/>
          </a:xfrm>
        </p:spPr>
        <p:txBody>
          <a:bodyPr/>
          <a:lstStyle/>
          <a:p>
            <a:r>
              <a:rPr lang="en-US" dirty="0"/>
              <a:t>Reference orbit === true orbit </a:t>
            </a:r>
          </a:p>
          <a:p>
            <a:r>
              <a:rPr lang="en-US" dirty="0"/>
              <a:t>Candidate === predicted orbit ‘</a:t>
            </a:r>
          </a:p>
          <a:p>
            <a:endParaRPr lang="en-US" dirty="0"/>
          </a:p>
          <a:p>
            <a:r>
              <a:rPr lang="en-US" dirty="0"/>
              <a:t>Reference Object Orbit Points:</a:t>
            </a:r>
          </a:p>
          <a:p>
            <a:pPr lvl="1"/>
            <a:r>
              <a:rPr lang="en-US" dirty="0"/>
              <a:t>"</a:t>
            </a:r>
            <a:r>
              <a:rPr lang="en-US" b="1" dirty="0" err="1"/>
              <a:t>xpos</a:t>
            </a:r>
            <a:r>
              <a:rPr lang="en-US" dirty="0"/>
              <a:t>": 24168.25342735169,</a:t>
            </a:r>
          </a:p>
          <a:p>
            <a:pPr lvl="1"/>
            <a:r>
              <a:rPr lang="en-US" dirty="0"/>
              <a:t>"</a:t>
            </a:r>
            <a:r>
              <a:rPr lang="en-US" b="1" dirty="0" err="1"/>
              <a:t>ypos</a:t>
            </a:r>
            <a:r>
              <a:rPr lang="en-US" dirty="0"/>
              <a:t>": 34550.56129221599,</a:t>
            </a:r>
          </a:p>
          <a:p>
            <a:pPr lvl="1"/>
            <a:r>
              <a:rPr lang="en-US" dirty="0"/>
              <a:t>"</a:t>
            </a:r>
            <a:r>
              <a:rPr lang="en-US" b="1" dirty="0" err="1"/>
              <a:t>zpos</a:t>
            </a:r>
            <a:r>
              <a:rPr lang="en-US" dirty="0"/>
              <a:t>": -857.56069973435,</a:t>
            </a:r>
          </a:p>
          <a:p>
            <a:pPr lvl="1"/>
            <a:r>
              <a:rPr lang="en-US" dirty="0"/>
              <a:t>"</a:t>
            </a:r>
            <a:r>
              <a:rPr lang="en-US" b="1" dirty="0" err="1"/>
              <a:t>xvel</a:t>
            </a:r>
            <a:r>
              <a:rPr lang="en-US" dirty="0"/>
              <a:t>": -2.51560889743236,</a:t>
            </a:r>
          </a:p>
          <a:p>
            <a:pPr lvl="1"/>
            <a:r>
              <a:rPr lang="en-US" dirty="0"/>
              <a:t>"</a:t>
            </a:r>
            <a:r>
              <a:rPr lang="en-US" b="1" dirty="0" err="1"/>
              <a:t>yvel</a:t>
            </a:r>
            <a:r>
              <a:rPr lang="en-US" dirty="0"/>
              <a:t>": 1.762620637366123,</a:t>
            </a:r>
          </a:p>
          <a:p>
            <a:pPr lvl="1"/>
            <a:r>
              <a:rPr lang="en-US" dirty="0"/>
              <a:t>"</a:t>
            </a:r>
            <a:r>
              <a:rPr lang="en-US" b="1" dirty="0" err="1"/>
              <a:t>zvel</a:t>
            </a:r>
            <a:r>
              <a:rPr lang="en-US" dirty="0"/>
              <a:t>": 0.12040900107058,</a:t>
            </a:r>
          </a:p>
          <a:p>
            <a:r>
              <a:rPr lang="en-US" dirty="0"/>
              <a:t>UCT is trying to minimize the distance between them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48C084F-7B39-3830-DD81-E718844A3FD0}"/>
              </a:ext>
            </a:extLst>
          </p:cNvPr>
          <p:cNvSpPr txBox="1">
            <a:spLocks/>
          </p:cNvSpPr>
          <p:nvPr/>
        </p:nvSpPr>
        <p:spPr>
          <a:xfrm>
            <a:off x="4656068" y="3584055"/>
            <a:ext cx="3505188" cy="1009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Need to get from 1D to 6D</a:t>
            </a:r>
          </a:p>
          <a:p>
            <a:r>
              <a:rPr lang="en-US" dirty="0"/>
              <a:t>In 1D linear regression</a:t>
            </a:r>
          </a:p>
          <a:p>
            <a:pPr lvl="1"/>
            <a:r>
              <a:rPr lang="en-US" dirty="0"/>
              <a:t>Minimized by taking the squared difference between the predicted and true values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E1866F0-3798-4D5D-7457-B04B731B3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775" y="1592577"/>
            <a:ext cx="2312202" cy="199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57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Questions and Discussions</a:t>
            </a:r>
            <a:endParaRPr dirty="0"/>
          </a:p>
        </p:txBody>
      </p:sp>
      <p:sp>
        <p:nvSpPr>
          <p:cNvPr id="225" name="Google Shape;225;p3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dirty="0"/>
              <a:t>Open discussions</a:t>
            </a:r>
          </a:p>
        </p:txBody>
      </p:sp>
      <p:pic>
        <p:nvPicPr>
          <p:cNvPr id="226" name="Google Shape;22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UCF_Kapat_2007Jan_Project">
  <a:themeElements>
    <a:clrScheme name="">
      <a:dk1>
        <a:srgbClr val="000000"/>
      </a:dk1>
      <a:lt1>
        <a:srgbClr val="EAEAEA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3F3F3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1786</TotalTime>
  <Words>674</Words>
  <Application>Microsoft Office PowerPoint</Application>
  <PresentationFormat>On-screen Show (16:9)</PresentationFormat>
  <Paragraphs>67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Simple Light</vt:lpstr>
      <vt:lpstr>1_UCF_Kapat_2007Jan_Project</vt:lpstr>
      <vt:lpstr>L16 – Uncorrelated Track Processing</vt:lpstr>
      <vt:lpstr>Table of Contents</vt:lpstr>
      <vt:lpstr>Project Maturation</vt:lpstr>
      <vt:lpstr>Course Finalization for Senior Design 1</vt:lpstr>
      <vt:lpstr>Development Updates no. 2</vt:lpstr>
      <vt:lpstr>Development Updates no. 2</vt:lpstr>
      <vt:lpstr>Current Focus and Needs</vt:lpstr>
      <vt:lpstr>UCT: Diagram and Metrics</vt:lpstr>
      <vt:lpstr>6D State Vector </vt:lpstr>
      <vt:lpstr>Questions and Discussions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g</dc:creator>
  <cp:lastModifiedBy>Kyle Galang</cp:lastModifiedBy>
  <cp:revision>20</cp:revision>
  <dcterms:modified xsi:type="dcterms:W3CDTF">2025-11-19T19:53:50Z</dcterms:modified>
</cp:coreProperties>
</file>