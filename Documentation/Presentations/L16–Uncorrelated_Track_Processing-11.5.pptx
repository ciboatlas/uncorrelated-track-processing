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69" r:id="rId2"/>
  </p:sldMasterIdLst>
  <p:notesMasterIdLst>
    <p:notesMasterId r:id="rId12"/>
  </p:notesMasterIdLst>
  <p:sldIdLst>
    <p:sldId id="256" r:id="rId3"/>
    <p:sldId id="257" r:id="rId4"/>
    <p:sldId id="448" r:id="rId5"/>
    <p:sldId id="1042653389" r:id="rId6"/>
    <p:sldId id="1042653388" r:id="rId7"/>
    <p:sldId id="1042653391" r:id="rId8"/>
    <p:sldId id="1042653392" r:id="rId9"/>
    <p:sldId id="1042653390" r:id="rId10"/>
    <p:sldId id="268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1F3D735-CA63-4AEC-A0B3-ED3692785BA0}">
          <p14:sldIdLst>
            <p14:sldId id="256"/>
            <p14:sldId id="257"/>
            <p14:sldId id="448"/>
            <p14:sldId id="1042653389"/>
            <p14:sldId id="1042653388"/>
            <p14:sldId id="1042653391"/>
          </p14:sldIdLst>
        </p14:section>
        <p14:section name="Untitled Section" id="{F631A061-9C1E-4F5C-AF41-5696F07F0CA1}">
          <p14:sldIdLst/>
        </p14:section>
        <p14:section name="Untitled Section" id="{1D967448-D54C-4F90-BD80-5B40B669B2AC}">
          <p14:sldIdLst>
            <p14:sldId id="1042653392"/>
            <p14:sldId id="1042653390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8301f814_2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g39b8301f814_2_5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- FILL IN / REMOVE ALL NOTES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8301f814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g39b8301f814_2_6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96BA-15CB-043E-048F-3D114C47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F296C-20A9-3020-3FB4-948D8F24F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F8E2E-0BE2-3089-5972-721944901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382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E718-068D-86E4-51C1-521A653D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73EDE-A6D7-89AB-71A6-DF7EF6DE2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42EC1-2A1C-DAC7-91DC-CBAECB7C8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97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E54D-C932-499E-520C-BD3BC273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85369-F461-43C6-11EE-E4C36F87B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11AE7-D780-D682-11DE-426A25E5F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583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b8301f814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2" name="Google Shape;222;g39b8301f814_2_14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685800" y="1468377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371600" y="2330041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1371600" y="3509429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2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722435" y="1993106"/>
            <a:ext cx="7772400" cy="91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2"/>
          </p:nvPr>
        </p:nvSpPr>
        <p:spPr>
          <a:xfrm>
            <a:off x="722435" y="2912273"/>
            <a:ext cx="7772400" cy="36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207172" y="664370"/>
            <a:ext cx="4294493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642341" y="664370"/>
            <a:ext cx="43087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5" name="Google Shape;75;p17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207169" y="664374"/>
            <a:ext cx="4290098" cy="49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207169" y="1159669"/>
            <a:ext cx="4290098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3"/>
          </p:nvPr>
        </p:nvSpPr>
        <p:spPr>
          <a:xfrm>
            <a:off x="4645273" y="664374"/>
            <a:ext cx="4305848" cy="49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4"/>
          </p:nvPr>
        </p:nvSpPr>
        <p:spPr>
          <a:xfrm>
            <a:off x="4645273" y="1159669"/>
            <a:ext cx="4305848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5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3" name="Google Shape;83;p18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207172" y="664374"/>
            <a:ext cx="3258469" cy="41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3575540" y="664370"/>
            <a:ext cx="53755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207172" y="1076326"/>
            <a:ext cx="3258469" cy="35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9" name="Google Shape;89;p19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19"/>
          <p:cNvSpPr txBox="1"/>
          <p:nvPr/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Title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1792166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>
            <a:spLocks noGrp="1"/>
          </p:cNvSpPr>
          <p:nvPr>
            <p:ph type="pic" idx="2"/>
          </p:nvPr>
        </p:nvSpPr>
        <p:spPr>
          <a:xfrm>
            <a:off x="1792166" y="664370"/>
            <a:ext cx="5486400" cy="2881311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1792166" y="4025504"/>
            <a:ext cx="5486400" cy="56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170" y="56393"/>
            <a:ext cx="7341339" cy="351234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69" y="664369"/>
            <a:ext cx="8743950" cy="393025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75" i="1" baseline="0"/>
            </a:lvl1pPr>
          </a:lstStyle>
          <a:p>
            <a:pPr lvl="0"/>
            <a:r>
              <a:rPr lang="en-US"/>
              <a:t>Figure or Table N: Caption.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D28861-EA7A-5C09-B3F3-3763539B7998}"/>
              </a:ext>
            </a:extLst>
          </p:cNvPr>
          <p:cNvCxnSpPr/>
          <p:nvPr userDrawn="1"/>
        </p:nvCxnSpPr>
        <p:spPr bwMode="auto">
          <a:xfrm>
            <a:off x="-7144" y="495678"/>
            <a:ext cx="9155430" cy="0"/>
          </a:xfrm>
          <a:prstGeom prst="line">
            <a:avLst/>
          </a:prstGeom>
          <a:solidFill>
            <a:srgbClr val="FFFFFF"/>
          </a:solidFill>
          <a:ln w="66675" cap="flat" cmpd="sng" algn="ctr">
            <a:solidFill>
              <a:srgbClr val="FFCA0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531846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170" y="56393"/>
            <a:ext cx="7341339" cy="351234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69" y="664369"/>
            <a:ext cx="8743950" cy="393025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75" i="1" baseline="0"/>
            </a:lvl1pPr>
          </a:lstStyle>
          <a:p>
            <a:pPr lvl="0"/>
            <a:r>
              <a:rPr lang="en-US"/>
              <a:t>Figure or Table N: Caption.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D28861-EA7A-5C09-B3F3-3763539B7998}"/>
              </a:ext>
            </a:extLst>
          </p:cNvPr>
          <p:cNvCxnSpPr/>
          <p:nvPr userDrawn="1"/>
        </p:nvCxnSpPr>
        <p:spPr bwMode="auto">
          <a:xfrm>
            <a:off x="-7144" y="495678"/>
            <a:ext cx="9155430" cy="0"/>
          </a:xfrm>
          <a:prstGeom prst="line">
            <a:avLst/>
          </a:prstGeom>
          <a:solidFill>
            <a:srgbClr val="FFFFFF"/>
          </a:solidFill>
          <a:ln w="66675" cap="flat" cmpd="sng" algn="ctr">
            <a:solidFill>
              <a:srgbClr val="FFCA0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0048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92890" y="4833388"/>
            <a:ext cx="8851110" cy="308610"/>
          </a:xfrm>
          <a:prstGeom prst="rect">
            <a:avLst/>
          </a:prstGeom>
          <a:solidFill>
            <a:srgbClr val="FFCA0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765195" y="4914197"/>
            <a:ext cx="304800" cy="1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7529944" y="62894"/>
            <a:ext cx="161405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sz="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4731490" y="4843898"/>
            <a:ext cx="3911703" cy="30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 Statement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Only if applicable.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Change me by “View” then “Slide Master”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 descr="The Center for Advanced Turbomachinery &amp;amp; Energy Research – CATERing to the  energy needs of society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514008" y="4911826"/>
            <a:ext cx="515690" cy="16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descr="Graphical user interface, text, application, email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 l="22599" t="16593" r="11037" b="35871"/>
          <a:stretch/>
        </p:blipFill>
        <p:spPr>
          <a:xfrm>
            <a:off x="350040" y="4857511"/>
            <a:ext cx="1138519" cy="25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15">
            <a:alphaModFix/>
          </a:blip>
          <a:srcRect t="-1" r="82893" b="30586"/>
          <a:stretch/>
        </p:blipFill>
        <p:spPr>
          <a:xfrm>
            <a:off x="0" y="4833389"/>
            <a:ext cx="292890" cy="3101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0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6775" y="64978"/>
            <a:ext cx="657225" cy="62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3"/>
          <p:cNvSpPr txBox="1">
            <a:spLocks noGrp="1"/>
          </p:cNvSpPr>
          <p:nvPr>
            <p:ph type="ctrTitle"/>
          </p:nvPr>
        </p:nvSpPr>
        <p:spPr>
          <a:xfrm>
            <a:off x="685800" y="1612756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L16 – Uncorrelated Track Processing</a:t>
            </a:r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1"/>
          </p:nvPr>
        </p:nvSpPr>
        <p:spPr>
          <a:xfrm>
            <a:off x="1371600" y="2474420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By: Kyle Galang, Aurela Broqi, Ruben Dennis, Aaron Nogues, Ezra Stone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Project Maturation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UI Development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Research Breakdown</a:t>
            </a:r>
          </a:p>
          <a:p>
            <a:pPr marL="101600" lvl="1" indent="-101600">
              <a:spcBef>
                <a:spcPts val="0"/>
              </a:spcBef>
              <a:buSzPts val="1400"/>
            </a:pPr>
            <a:r>
              <a:rPr lang="en-US" sz="1400" dirty="0"/>
              <a:t> LLM Symbolic Regression Breakdown</a:t>
            </a:r>
          </a:p>
          <a:p>
            <a:pPr marL="101600" lvl="1" indent="-101600">
              <a:spcBef>
                <a:spcPts val="0"/>
              </a:spcBef>
              <a:buSzPts val="1400"/>
            </a:pPr>
            <a:r>
              <a:rPr lang="en-US" sz="1400" dirty="0"/>
              <a:t> Linear Regression 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Current Documentation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Questions</a:t>
            </a:r>
            <a:endParaRPr lang="en-US" dirty="0"/>
          </a:p>
        </p:txBody>
      </p:sp>
      <p:pic>
        <p:nvPicPr>
          <p:cNvPr id="116" name="Google Shape;1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BE08-3C3C-E568-3D6D-148578B2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E129-DA6A-82A1-E56F-D365C8A1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Project Maturation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F89E-A7F1-0858-0590-AA1E826B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b="1" dirty="0"/>
              <a:t>The following items to be discussed</a:t>
            </a:r>
          </a:p>
          <a:p>
            <a:pPr lvl="1"/>
            <a:r>
              <a:rPr lang="en-US" sz="1200" dirty="0"/>
              <a:t>Environment Setup:</a:t>
            </a:r>
          </a:p>
          <a:p>
            <a:pPr lvl="2"/>
            <a:r>
              <a:rPr lang="en-US" sz="1200" dirty="0"/>
              <a:t>GitHub Repository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SDA TAP Lab &amp; UDA access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Open </a:t>
            </a:r>
            <a:r>
              <a:rPr lang="en-US" sz="1200" dirty="0" err="1"/>
              <a:t>Ondemand</a:t>
            </a:r>
            <a:r>
              <a:rPr lang="en-US" sz="1200" dirty="0"/>
              <a:t> – </a:t>
            </a:r>
            <a:r>
              <a:rPr lang="en-US" sz="1200" i="1" dirty="0">
                <a:solidFill>
                  <a:srgbClr val="C00000"/>
                </a:solidFill>
              </a:rPr>
              <a:t>identified later through the access of HPC</a:t>
            </a:r>
          </a:p>
          <a:p>
            <a:pPr lvl="2"/>
            <a:r>
              <a:rPr lang="en-US" sz="1200" dirty="0"/>
              <a:t>Documentation – </a:t>
            </a:r>
            <a:r>
              <a:rPr lang="en-US" sz="1200" i="1" dirty="0">
                <a:solidFill>
                  <a:srgbClr val="FFC000"/>
                </a:solidFill>
              </a:rPr>
              <a:t>ongoing as we develop further into symbolic regression benchmarking example</a:t>
            </a:r>
            <a:br>
              <a:rPr lang="en-US" sz="1200" i="1" dirty="0">
                <a:solidFill>
                  <a:srgbClr val="FFC000"/>
                </a:solidFill>
              </a:rPr>
            </a:br>
            <a:endParaRPr lang="en-US" sz="1200" i="1" dirty="0">
              <a:solidFill>
                <a:srgbClr val="00B050"/>
              </a:solidFill>
            </a:endParaRPr>
          </a:p>
          <a:p>
            <a:pPr lvl="1"/>
            <a:r>
              <a:rPr lang="en-US" sz="1200" dirty="0"/>
              <a:t>Design level requirements:</a:t>
            </a:r>
          </a:p>
          <a:p>
            <a:pPr lvl="2"/>
            <a:r>
              <a:rPr lang="en-US" sz="1200" dirty="0"/>
              <a:t>Design Schematics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Tech Stack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  <a:br>
              <a:rPr lang="en-US" sz="1200" i="1" dirty="0">
                <a:solidFill>
                  <a:srgbClr val="C00000"/>
                </a:solidFill>
              </a:rPr>
            </a:br>
            <a:br>
              <a:rPr lang="en-US" sz="1200" i="1" dirty="0">
                <a:solidFill>
                  <a:srgbClr val="C00000"/>
                </a:solidFill>
              </a:rPr>
            </a:br>
            <a:r>
              <a:rPr lang="en-US" sz="1200" dirty="0"/>
              <a:t>Development:</a:t>
            </a:r>
          </a:p>
          <a:p>
            <a:pPr lvl="2"/>
            <a:r>
              <a:rPr lang="en-US" sz="1200" dirty="0"/>
              <a:t>Graphical User Interface – </a:t>
            </a:r>
            <a:r>
              <a:rPr lang="en-US" sz="1200" i="1" dirty="0">
                <a:solidFill>
                  <a:srgbClr val="FFC000"/>
                </a:solidFill>
              </a:rPr>
              <a:t>connection to local host </a:t>
            </a:r>
          </a:p>
          <a:p>
            <a:pPr lvl="2"/>
            <a:r>
              <a:rPr lang="en-US" sz="1200" dirty="0"/>
              <a:t>LLM development – </a:t>
            </a:r>
            <a:r>
              <a:rPr lang="en-US" sz="1200" i="1" dirty="0">
                <a:solidFill>
                  <a:srgbClr val="FFC000"/>
                </a:solidFill>
              </a:rPr>
              <a:t>development phase</a:t>
            </a:r>
          </a:p>
          <a:p>
            <a:pPr lvl="2"/>
            <a:r>
              <a:rPr lang="en-US" sz="1200" dirty="0"/>
              <a:t>Validity environment testing  – </a:t>
            </a:r>
            <a:r>
              <a:rPr lang="en-US" sz="1200" i="1" dirty="0">
                <a:solidFill>
                  <a:srgbClr val="C00000"/>
                </a:solidFill>
              </a:rPr>
              <a:t>identified later when Open OnDemand gets set up</a:t>
            </a:r>
            <a:br>
              <a:rPr lang="en-US" sz="900" i="1" dirty="0">
                <a:solidFill>
                  <a:srgbClr val="C00000"/>
                </a:solidFill>
              </a:rPr>
            </a:br>
            <a:br>
              <a:rPr lang="en-US" sz="863" dirty="0"/>
            </a:br>
            <a:endParaRPr lang="en-US" sz="975" dirty="0"/>
          </a:p>
          <a:p>
            <a:pPr lvl="1"/>
            <a:endParaRPr lang="en-US" sz="1050" dirty="0"/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B1205B4E-A8D5-8036-860A-8FC43AD95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E883644B-C931-103B-46FB-3E8885AC93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CA8515B6-1274-7A0C-D4E1-A529D1F342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388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3F4A3-DCCC-D701-7234-5F5DD52A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AF3B-4201-903B-FDC0-6B3CF7E1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User Interface – Development Updates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34D678A6-889B-3B3A-B02A-D9EADE7A59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F86F9920-104C-A1CC-B2E1-D13FB3EE48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701087E1-F3E1-8AA8-AF07-A73AB5D8A4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A53CBC-4F5E-C533-D6B7-705FB5D95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69" y="2863703"/>
            <a:ext cx="8743949" cy="17309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current UCT runtimes are unknown, do we approximate the timeline based off symbolic regression timelines.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of months, the line graph y-axis will be based off seconds. (metric can be changed later)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soon be connected to our single-truth repository which stores a clean setup of </a:t>
            </a:r>
            <a:r>
              <a:rPr lang="en-US" dirty="0" err="1"/>
              <a:t>OpenEvolve</a:t>
            </a:r>
            <a:r>
              <a:rPr lang="en-US" dirty="0"/>
              <a:t> where we do majority of our development 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development starts soon through training it with the example problems for code generation.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9DC918-2880-6155-563A-F8598D6CA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4" y="660773"/>
            <a:ext cx="8222292" cy="208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8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92BE-B343-2F96-AB62-733D148C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Research Breakdown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77EFCD-8CB2-A5D3-4A7F-87E16964032A}"/>
              </a:ext>
            </a:extLst>
          </p:cNvPr>
          <p:cNvSpPr/>
          <p:nvPr/>
        </p:nvSpPr>
        <p:spPr bwMode="auto">
          <a:xfrm>
            <a:off x="3292074" y="992945"/>
            <a:ext cx="1703096" cy="469359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 err="1">
                <a:solidFill>
                  <a:schemeClr val="bg1"/>
                </a:solidFill>
                <a:latin typeface="Arial" charset="0"/>
                <a:cs typeface="Arial"/>
              </a:rPr>
              <a:t>OpenEvolve</a:t>
            </a:r>
            <a:r>
              <a:rPr lang="en-US" sz="1300" dirty="0">
                <a:solidFill>
                  <a:schemeClr val="bg1"/>
                </a:solidFill>
                <a:latin typeface="Arial" charset="0"/>
                <a:cs typeface="Arial"/>
              </a:rPr>
              <a:t> Research for UCT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F6D134-B80B-665F-E878-FA3D9786209B}"/>
              </a:ext>
            </a:extLst>
          </p:cNvPr>
          <p:cNvSpPr/>
          <p:nvPr/>
        </p:nvSpPr>
        <p:spPr bwMode="auto">
          <a:xfrm>
            <a:off x="170047" y="3525554"/>
            <a:ext cx="1133438" cy="4693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Aaron Nogues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54AFA6-6976-7449-9886-A7DCE4564080}"/>
              </a:ext>
            </a:extLst>
          </p:cNvPr>
          <p:cNvCxnSpPr>
            <a:cxnSpLocks/>
            <a:endCxn id="30" idx="2"/>
          </p:cNvCxnSpPr>
          <p:nvPr/>
        </p:nvCxnSpPr>
        <p:spPr bwMode="auto">
          <a:xfrm flipH="1" flipV="1">
            <a:off x="736766" y="3165307"/>
            <a:ext cx="4826" cy="360301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5741D5F-B2B3-C180-6B24-3238432B4A97}"/>
              </a:ext>
            </a:extLst>
          </p:cNvPr>
          <p:cNvSpPr/>
          <p:nvPr/>
        </p:nvSpPr>
        <p:spPr bwMode="auto">
          <a:xfrm>
            <a:off x="7524952" y="1580881"/>
            <a:ext cx="1469572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Research Topics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C45E10-9EE8-6133-FE02-713AC0B5ED26}"/>
              </a:ext>
            </a:extLst>
          </p:cNvPr>
          <p:cNvSpPr/>
          <p:nvPr/>
        </p:nvSpPr>
        <p:spPr bwMode="auto">
          <a:xfrm>
            <a:off x="7524952" y="1902369"/>
            <a:ext cx="1469572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Distributions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97BC1C-93F7-E6A2-10BD-565C528E05D8}"/>
              </a:ext>
            </a:extLst>
          </p:cNvPr>
          <p:cNvSpPr txBox="1"/>
          <p:nvPr/>
        </p:nvSpPr>
        <p:spPr>
          <a:xfrm>
            <a:off x="7665775" y="660640"/>
            <a:ext cx="103133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50" dirty="0">
                <a:ea typeface="ＭＳ Ｐゴシック"/>
              </a:rPr>
              <a:t>Nomenclature</a:t>
            </a:r>
            <a:endParaRPr lang="en-US" sz="10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6EA41C-1851-652B-D255-A72FA6EDDEB3}"/>
              </a:ext>
            </a:extLst>
          </p:cNvPr>
          <p:cNvSpPr/>
          <p:nvPr/>
        </p:nvSpPr>
        <p:spPr bwMode="auto">
          <a:xfrm>
            <a:off x="7524952" y="919997"/>
            <a:ext cx="1469572" cy="253916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200" dirty="0">
                <a:solidFill>
                  <a:schemeClr val="bg1"/>
                </a:solidFill>
                <a:latin typeface="Arial" charset="0"/>
                <a:cs typeface="Arial"/>
              </a:rPr>
              <a:t>Goals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FB9F5D-9908-B914-F182-F78558380C30}"/>
              </a:ext>
            </a:extLst>
          </p:cNvPr>
          <p:cNvSpPr/>
          <p:nvPr/>
        </p:nvSpPr>
        <p:spPr bwMode="auto">
          <a:xfrm>
            <a:off x="7524952" y="1250439"/>
            <a:ext cx="1469572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Requirements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8C11BB-699A-0390-30BD-024CFB7527FF}"/>
              </a:ext>
            </a:extLst>
          </p:cNvPr>
          <p:cNvSpPr/>
          <p:nvPr/>
        </p:nvSpPr>
        <p:spPr bwMode="auto">
          <a:xfrm>
            <a:off x="3408836" y="2165174"/>
            <a:ext cx="1469572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Documentation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109CFB-8B17-44E8-4330-86D1B3454BAA}"/>
              </a:ext>
            </a:extLst>
          </p:cNvPr>
          <p:cNvSpPr/>
          <p:nvPr/>
        </p:nvSpPr>
        <p:spPr bwMode="auto">
          <a:xfrm>
            <a:off x="3408836" y="1688270"/>
            <a:ext cx="1469572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Poster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E68E48-4BD9-D1F7-70E8-885FCCF9C007}"/>
              </a:ext>
            </a:extLst>
          </p:cNvPr>
          <p:cNvSpPr/>
          <p:nvPr/>
        </p:nvSpPr>
        <p:spPr bwMode="auto">
          <a:xfrm>
            <a:off x="5198817" y="2896003"/>
            <a:ext cx="1813515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Software Development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A61A66-9F6F-CAA7-CEF9-405B1E65A2E6}"/>
              </a:ext>
            </a:extLst>
          </p:cNvPr>
          <p:cNvSpPr/>
          <p:nvPr/>
        </p:nvSpPr>
        <p:spPr bwMode="auto">
          <a:xfrm>
            <a:off x="275766" y="2896003"/>
            <a:ext cx="921999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UCT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2C23C6-59D6-8A4C-3C19-4F7ACB682DB3}"/>
              </a:ext>
            </a:extLst>
          </p:cNvPr>
          <p:cNvSpPr/>
          <p:nvPr/>
        </p:nvSpPr>
        <p:spPr bwMode="auto">
          <a:xfrm>
            <a:off x="1423305" y="2896003"/>
            <a:ext cx="1147452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 err="1">
                <a:latin typeface="Arial" charset="0"/>
                <a:cs typeface="Arial"/>
              </a:rPr>
              <a:t>OpenEvolve</a:t>
            </a:r>
            <a:endParaRPr lang="en-US" sz="1300" dirty="0">
              <a:latin typeface="Arial" charset="0"/>
              <a:cs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642B71-8DAB-85EF-1DDE-74EFF3CD1036}"/>
              </a:ext>
            </a:extLst>
          </p:cNvPr>
          <p:cNvSpPr/>
          <p:nvPr/>
        </p:nvSpPr>
        <p:spPr bwMode="auto">
          <a:xfrm>
            <a:off x="2721415" y="2896003"/>
            <a:ext cx="1613020" cy="469359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Symbolic Regression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447964-1642-FEDC-A1AA-ED726BE804AE}"/>
              </a:ext>
            </a:extLst>
          </p:cNvPr>
          <p:cNvSpPr/>
          <p:nvPr/>
        </p:nvSpPr>
        <p:spPr bwMode="auto">
          <a:xfrm>
            <a:off x="1423305" y="3525554"/>
            <a:ext cx="1133438" cy="4693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Ruben Dennis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AAAAED-CE08-C90C-A228-E0A623A52044}"/>
              </a:ext>
            </a:extLst>
          </p:cNvPr>
          <p:cNvSpPr/>
          <p:nvPr/>
        </p:nvSpPr>
        <p:spPr bwMode="auto">
          <a:xfrm>
            <a:off x="2953957" y="3521518"/>
            <a:ext cx="1133438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Aurela </a:t>
            </a:r>
            <a:r>
              <a:rPr lang="en-US" sz="1300" dirty="0" err="1">
                <a:latin typeface="Arial" charset="0"/>
                <a:cs typeface="Arial"/>
              </a:rPr>
              <a:t>Broqi</a:t>
            </a:r>
            <a:endParaRPr lang="en-US" sz="1300" dirty="0">
              <a:latin typeface="Arial" charset="0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7B4020-A011-6D50-90F9-B8CA521F956A}"/>
              </a:ext>
            </a:extLst>
          </p:cNvPr>
          <p:cNvCxnSpPr>
            <a:cxnSpLocks/>
            <a:endCxn id="31" idx="2"/>
          </p:cNvCxnSpPr>
          <p:nvPr/>
        </p:nvCxnSpPr>
        <p:spPr bwMode="auto">
          <a:xfrm flipV="1">
            <a:off x="1989569" y="3165307"/>
            <a:ext cx="7462" cy="3697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C25DD81-06EF-7118-7BA1-1006F5EE8A04}"/>
              </a:ext>
            </a:extLst>
          </p:cNvPr>
          <p:cNvCxnSpPr>
            <a:cxnSpLocks/>
            <a:stCxn id="34" idx="0"/>
            <a:endCxn id="32" idx="2"/>
          </p:cNvCxnSpPr>
          <p:nvPr/>
        </p:nvCxnSpPr>
        <p:spPr bwMode="auto">
          <a:xfrm flipV="1">
            <a:off x="3520676" y="3365362"/>
            <a:ext cx="7249" cy="15615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79EE18B-DF97-71F5-ED7A-0437ACC9C3B2}"/>
              </a:ext>
            </a:extLst>
          </p:cNvPr>
          <p:cNvSpPr/>
          <p:nvPr/>
        </p:nvSpPr>
        <p:spPr bwMode="auto">
          <a:xfrm>
            <a:off x="5107493" y="3521518"/>
            <a:ext cx="921999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LLM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4AC01B-5951-BA75-64DA-8F9BD8D7D36F}"/>
              </a:ext>
            </a:extLst>
          </p:cNvPr>
          <p:cNvSpPr/>
          <p:nvPr/>
        </p:nvSpPr>
        <p:spPr bwMode="auto">
          <a:xfrm>
            <a:off x="6355470" y="3521518"/>
            <a:ext cx="921999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GUI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7CB8E0-480C-D5C8-2442-4AA7FCC9362B}"/>
              </a:ext>
            </a:extLst>
          </p:cNvPr>
          <p:cNvSpPr/>
          <p:nvPr/>
        </p:nvSpPr>
        <p:spPr bwMode="auto">
          <a:xfrm>
            <a:off x="4995170" y="4147033"/>
            <a:ext cx="1133438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Ezra Stone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9125A0-045B-6305-DCF6-DE1636CE6124}"/>
              </a:ext>
            </a:extLst>
          </p:cNvPr>
          <p:cNvSpPr/>
          <p:nvPr/>
        </p:nvSpPr>
        <p:spPr bwMode="auto">
          <a:xfrm>
            <a:off x="6249750" y="4147033"/>
            <a:ext cx="1133438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Kyle Galang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890F11D-15A6-2CBC-FB7A-67B7ABD542DD}"/>
              </a:ext>
            </a:extLst>
          </p:cNvPr>
          <p:cNvCxnSpPr>
            <a:cxnSpLocks/>
            <a:endCxn id="37" idx="2"/>
          </p:cNvCxnSpPr>
          <p:nvPr/>
        </p:nvCxnSpPr>
        <p:spPr bwMode="auto">
          <a:xfrm flipV="1">
            <a:off x="5568492" y="3790822"/>
            <a:ext cx="1" cy="368751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E7C0BC-7F96-1F81-20CB-71073E2A6911}"/>
              </a:ext>
            </a:extLst>
          </p:cNvPr>
          <p:cNvCxnSpPr>
            <a:cxnSpLocks/>
            <a:endCxn id="38" idx="2"/>
          </p:cNvCxnSpPr>
          <p:nvPr/>
        </p:nvCxnSpPr>
        <p:spPr bwMode="auto">
          <a:xfrm flipV="1">
            <a:off x="6816469" y="3790822"/>
            <a:ext cx="1" cy="36987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96B43A1-B9B8-A800-1624-87289B711593}"/>
              </a:ext>
            </a:extLst>
          </p:cNvPr>
          <p:cNvCxnSpPr>
            <a:cxnSpLocks/>
            <a:stCxn id="30" idx="0"/>
            <a:endCxn id="27" idx="2"/>
          </p:cNvCxnSpPr>
          <p:nvPr/>
        </p:nvCxnSpPr>
        <p:spPr bwMode="auto">
          <a:xfrm rot="5400000" flipH="1" flipV="1">
            <a:off x="2209432" y="961813"/>
            <a:ext cx="461525" cy="3406856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A7A8A78-4C6A-99B5-F0BA-EAF2A03F5C7F}"/>
              </a:ext>
            </a:extLst>
          </p:cNvPr>
          <p:cNvCxnSpPr>
            <a:stCxn id="31" idx="0"/>
          </p:cNvCxnSpPr>
          <p:nvPr/>
        </p:nvCxnSpPr>
        <p:spPr>
          <a:xfrm flipV="1">
            <a:off x="1997031" y="2657547"/>
            <a:ext cx="0" cy="2384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4C3E832-7CD9-3EE8-740E-47142F7A70EF}"/>
              </a:ext>
            </a:extLst>
          </p:cNvPr>
          <p:cNvCxnSpPr/>
          <p:nvPr/>
        </p:nvCxnSpPr>
        <p:spPr>
          <a:xfrm flipV="1">
            <a:off x="3548531" y="2657547"/>
            <a:ext cx="0" cy="2384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4A991F40-7A2B-9FFE-A04B-43E28071C88A}"/>
              </a:ext>
            </a:extLst>
          </p:cNvPr>
          <p:cNvCxnSpPr>
            <a:cxnSpLocks/>
          </p:cNvCxnSpPr>
          <p:nvPr/>
        </p:nvCxnSpPr>
        <p:spPr bwMode="auto">
          <a:xfrm rot="5400000" flipH="1" flipV="1">
            <a:off x="2201738" y="954117"/>
            <a:ext cx="476913" cy="3406856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DCE03E1C-8E5C-3869-75AC-084A14A7EF02}"/>
              </a:ext>
            </a:extLst>
          </p:cNvPr>
          <p:cNvCxnSpPr>
            <a:cxnSpLocks/>
            <a:stCxn id="29" idx="0"/>
            <a:endCxn id="27" idx="2"/>
          </p:cNvCxnSpPr>
          <p:nvPr/>
        </p:nvCxnSpPr>
        <p:spPr bwMode="auto">
          <a:xfrm rot="16200000" flipV="1">
            <a:off x="4893837" y="1684264"/>
            <a:ext cx="461525" cy="1961953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76AE4A37-1B05-DCA8-99ED-45CE3D96CED4}"/>
              </a:ext>
            </a:extLst>
          </p:cNvPr>
          <p:cNvCxnSpPr>
            <a:cxnSpLocks/>
            <a:stCxn id="38" idx="0"/>
            <a:endCxn id="29" idx="2"/>
          </p:cNvCxnSpPr>
          <p:nvPr/>
        </p:nvCxnSpPr>
        <p:spPr bwMode="auto">
          <a:xfrm rot="16200000" flipV="1">
            <a:off x="6282918" y="2987965"/>
            <a:ext cx="356211" cy="710895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4D1B6AAB-0EA9-0C79-2D55-CB6B22AF5CA2}"/>
              </a:ext>
            </a:extLst>
          </p:cNvPr>
          <p:cNvCxnSpPr>
            <a:cxnSpLocks/>
            <a:stCxn id="37" idx="0"/>
            <a:endCxn id="29" idx="2"/>
          </p:cNvCxnSpPr>
          <p:nvPr/>
        </p:nvCxnSpPr>
        <p:spPr bwMode="auto">
          <a:xfrm rot="5400000" flipH="1" flipV="1">
            <a:off x="5658929" y="3074872"/>
            <a:ext cx="356211" cy="537082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2E0FE19-56DC-C313-4452-D9F6BCB0A6F7}"/>
              </a:ext>
            </a:extLst>
          </p:cNvPr>
          <p:cNvCxnSpPr>
            <a:cxnSpLocks/>
            <a:endCxn id="28" idx="2"/>
          </p:cNvCxnSpPr>
          <p:nvPr/>
        </p:nvCxnSpPr>
        <p:spPr bwMode="auto">
          <a:xfrm flipV="1">
            <a:off x="4143622" y="1957574"/>
            <a:ext cx="0" cy="215622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5F07F7-02F8-E0F3-3B2D-8A06E8FD1C5F}"/>
              </a:ext>
            </a:extLst>
          </p:cNvPr>
          <p:cNvCxnSpPr>
            <a:cxnSpLocks/>
            <a:stCxn id="28" idx="0"/>
            <a:endCxn id="6" idx="2"/>
          </p:cNvCxnSpPr>
          <p:nvPr/>
        </p:nvCxnSpPr>
        <p:spPr bwMode="auto">
          <a:xfrm flipV="1">
            <a:off x="4143622" y="1462304"/>
            <a:ext cx="0" cy="22596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5" name="Google Shape;125;p25">
            <a:extLst>
              <a:ext uri="{FF2B5EF4-FFF2-40B4-BE49-F238E27FC236}">
                <a16:creationId xmlns:a16="http://schemas.microsoft.com/office/drawing/2014/main" id="{5E961E20-6CD6-0D7E-091F-271B2F37B3D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126;p25">
            <a:extLst>
              <a:ext uri="{FF2B5EF4-FFF2-40B4-BE49-F238E27FC236}">
                <a16:creationId xmlns:a16="http://schemas.microsoft.com/office/drawing/2014/main" id="{A7419A62-6FF7-41B9-C049-002CDDD1B1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116;p24">
            <a:extLst>
              <a:ext uri="{FF2B5EF4-FFF2-40B4-BE49-F238E27FC236}">
                <a16:creationId xmlns:a16="http://schemas.microsoft.com/office/drawing/2014/main" id="{81FCD3D7-A1A4-57B8-9056-64C176EC1A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971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927197-E9FB-33B6-A83D-C28A98055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What is Symbolic Regression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13F9A-9B86-1019-D446-F51C6D0BA36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 A type of machine learning algorithm; </a:t>
            </a:r>
            <a:r>
              <a:rPr lang="en-US" b="1" dirty="0"/>
              <a:t>predict 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b="1" dirty="0"/>
              <a:t>given </a:t>
            </a:r>
            <a:r>
              <a:rPr lang="en-US" i="1" dirty="0"/>
              <a:t>x</a:t>
            </a:r>
          </a:p>
          <a:p>
            <a:r>
              <a:rPr lang="en-US" dirty="0"/>
              <a:t>The more data that gets stored the more trash it gets </a:t>
            </a:r>
          </a:p>
          <a:p>
            <a:r>
              <a:rPr lang="en-US" dirty="0"/>
              <a:t>Random data sets with unknown objects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50CDA-A932-B486-5526-E8A507C8C1B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b="0" dirty="0"/>
              <a:t>Why Study Linear Regression?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DD42A-D9D8-F67C-21C6-48315EDDBC35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-US" dirty="0"/>
              <a:t>In order to determine the orbit, which is a line in 3D space, 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9E935D-96D5-F0DE-6B52-750101B23023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1766BAE-8112-22CD-1808-95668171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LLM Symbolic Regression Breakdown</a:t>
            </a:r>
          </a:p>
        </p:txBody>
      </p:sp>
    </p:spTree>
    <p:extLst>
      <p:ext uri="{BB962C8B-B14F-4D97-AF65-F5344CB8AC3E}">
        <p14:creationId xmlns:p14="http://schemas.microsoft.com/office/powerpoint/2010/main" val="1480143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54B780-1AB0-310D-476B-38351BBA2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17BE7-9744-A175-2D75-43C28D5498D2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3877839" y="758327"/>
                <a:ext cx="4290098" cy="3433762"/>
              </a:xfrm>
            </p:spPr>
            <p:txBody>
              <a:bodyPr/>
              <a:lstStyle/>
              <a:p>
                <a:r>
                  <a:rPr lang="en-US" dirty="0"/>
                  <a:t>Linear regression method for making predictions by fitting a straight line to data: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r>
                  <a:rPr lang="en-US" dirty="0"/>
                  <a:t>Data points ‘</a:t>
                </a:r>
                <a:r>
                  <a:rPr lang="en-US" dirty="0" err="1"/>
                  <a:t>i</a:t>
                </a:r>
                <a:r>
                  <a:rPr lang="en-US" dirty="0"/>
                  <a:t>’ are the </a:t>
                </a:r>
                <a:r>
                  <a:rPr lang="en-US" b="1" dirty="0"/>
                  <a:t>objects</a:t>
                </a:r>
                <a:r>
                  <a:rPr lang="en-US" dirty="0"/>
                  <a:t> “observations”</a:t>
                </a:r>
              </a:p>
              <a:p>
                <a:r>
                  <a:rPr lang="en-US" dirty="0"/>
                  <a:t>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the </a:t>
                </a:r>
                <a:r>
                  <a:rPr lang="en-US" b="1" dirty="0"/>
                  <a:t>predictors</a:t>
                </a:r>
                <a:r>
                  <a:rPr lang="en-US" dirty="0"/>
                  <a:t> “features” </a:t>
                </a:r>
              </a:p>
              <a:p>
                <a:r>
                  <a:rPr lang="en-US" dirty="0"/>
                  <a:t>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the </a:t>
                </a:r>
                <a:r>
                  <a:rPr lang="en-US" b="1" dirty="0"/>
                  <a:t>targets</a:t>
                </a:r>
                <a:r>
                  <a:rPr lang="en-US" dirty="0"/>
                  <a:t> (label)</a:t>
                </a:r>
              </a:p>
              <a:p>
                <a:endParaRPr lang="en-US" dirty="0"/>
              </a:p>
              <a:p>
                <a:r>
                  <a:rPr lang="en-US" dirty="0"/>
                  <a:t>Challenges</a:t>
                </a:r>
              </a:p>
              <a:p>
                <a:pPr lvl="1"/>
                <a:r>
                  <a:rPr lang="en-US" sz="1100" dirty="0"/>
                  <a:t>To train a linear regression model, we need to find the best slope/weight w that fits the data </a:t>
                </a:r>
              </a:p>
              <a:p>
                <a:pPr lvl="1"/>
                <a:r>
                  <a:rPr lang="en-US" sz="1100" dirty="0"/>
                  <a:t>Unlike simple models like a decision stump (which only splits data once)</a:t>
                </a:r>
              </a:p>
              <a:p>
                <a:pPr lvl="2"/>
                <a:r>
                  <a:rPr lang="en-US" sz="1100" dirty="0"/>
                  <a:t>Work with continuous values of w – continuous search space</a:t>
                </a:r>
              </a:p>
              <a:p>
                <a:pPr lvl="2"/>
                <a:r>
                  <a:rPr lang="en-US" sz="1100" dirty="0"/>
                  <a:t>Using optimization to find the value of w that minimizes prediction errors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17BE7-9744-A175-2D75-43C28D5498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3877839" y="758327"/>
                <a:ext cx="4290098" cy="3433762"/>
              </a:xfrm>
              <a:blipFill>
                <a:blip r:embed="rId2"/>
                <a:stretch>
                  <a:fillRect r="-568" b="-14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95AD42E8-3F5A-2672-7C02-564F71D8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AC7793-1562-1501-08C3-C03402DE6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9" y="1533140"/>
            <a:ext cx="3257331" cy="163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23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C8E4-FABE-F659-719F-C468F88A1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AF5C-65A6-B18A-8698-B15B497B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Current Documentation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43127807-FFB4-4533-5FE2-FA5AE78F05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B82F95A6-1CE3-ACA2-8B74-AFF3C13BF5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E3265755-8A86-5B53-4A4D-EF3BC2D8FA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82F68CE-667C-EED9-1FE3-806E98B38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53142" y="575526"/>
            <a:ext cx="3517397" cy="40648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35F201-26F7-7497-F6E4-EEDC1B17D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575526"/>
            <a:ext cx="3348789" cy="408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2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25" name="Google Shape;225;p3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dirty="0"/>
              <a:t>Open discussions</a:t>
            </a:r>
          </a:p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CF_Kapat_2007Jan_Project">
  <a:themeElements>
    <a:clrScheme name="">
      <a:dk1>
        <a:srgbClr val="000000"/>
      </a:dk1>
      <a:lt1>
        <a:srgbClr val="EAEAEA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3F3F3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430</Words>
  <Application>Microsoft Office PowerPoint</Application>
  <PresentationFormat>On-screen Show (16:9)</PresentationFormat>
  <Paragraphs>73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ＭＳ Ｐゴシック</vt:lpstr>
      <vt:lpstr>Arial</vt:lpstr>
      <vt:lpstr>Cambria Math</vt:lpstr>
      <vt:lpstr>Simple Light</vt:lpstr>
      <vt:lpstr>1_UCF_Kapat_2007Jan_Project</vt:lpstr>
      <vt:lpstr>L16 – Uncorrelated Track Processing</vt:lpstr>
      <vt:lpstr>Table of Contents</vt:lpstr>
      <vt:lpstr>Project Maturation</vt:lpstr>
      <vt:lpstr>User Interface – Development Updates</vt:lpstr>
      <vt:lpstr>Research Breakdown</vt:lpstr>
      <vt:lpstr> LLM Symbolic Regression Breakdown</vt:lpstr>
      <vt:lpstr>Linear Regression </vt:lpstr>
      <vt:lpstr>Current Documentation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g</dc:creator>
  <cp:lastModifiedBy>Kyle Galang</cp:lastModifiedBy>
  <cp:revision>13</cp:revision>
  <dcterms:modified xsi:type="dcterms:W3CDTF">2025-11-05T20:37:13Z</dcterms:modified>
</cp:coreProperties>
</file>