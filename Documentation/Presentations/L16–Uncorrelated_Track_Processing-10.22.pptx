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  <p:sldMasterId id="2147483669" r:id="rId2"/>
  </p:sldMasterIdLst>
  <p:notesMasterIdLst>
    <p:notesMasterId r:id="rId15"/>
  </p:notesMasterIdLst>
  <p:sldIdLst>
    <p:sldId id="256" r:id="rId3"/>
    <p:sldId id="257" r:id="rId4"/>
    <p:sldId id="258" r:id="rId5"/>
    <p:sldId id="269" r:id="rId6"/>
    <p:sldId id="259" r:id="rId7"/>
    <p:sldId id="266" r:id="rId8"/>
    <p:sldId id="267" r:id="rId9"/>
    <p:sldId id="271" r:id="rId10"/>
    <p:sldId id="273" r:id="rId11"/>
    <p:sldId id="270" r:id="rId12"/>
    <p:sldId id="272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b8301f814_2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2" name="Google Shape;102;g39b8301f814_2_5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- FILL IN / REMOVE ALL NOTES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b8301f814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2" name="Google Shape;112;g39b8301f814_2_6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b8301f814_2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g39b8301f814_2_68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1D005250-853B-8E20-1136-8B0ECFCD2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b8301f814_2_68:notes">
            <a:extLst>
              <a:ext uri="{FF2B5EF4-FFF2-40B4-BE49-F238E27FC236}">
                <a16:creationId xmlns:a16="http://schemas.microsoft.com/office/drawing/2014/main" id="{508CED4E-DD58-E7F9-9A8C-2BCF8C8890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g39b8301f814_2_68:notes">
            <a:extLst>
              <a:ext uri="{FF2B5EF4-FFF2-40B4-BE49-F238E27FC236}">
                <a16:creationId xmlns:a16="http://schemas.microsoft.com/office/drawing/2014/main" id="{41F069FA-29FE-D969-90D8-9F5FB4CB5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1540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b8301f814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0" name="Google Shape;130;g39b8301f814_2_76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b8301f8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b8301f81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b8301f81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b8301f81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0CDA1A76-1D13-1FE8-6CE3-EEED6D28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b8301f814_0_12:notes">
            <a:extLst>
              <a:ext uri="{FF2B5EF4-FFF2-40B4-BE49-F238E27FC236}">
                <a16:creationId xmlns:a16="http://schemas.microsoft.com/office/drawing/2014/main" id="{5238EDF2-5B60-F328-8EC8-7D83648B9D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b8301f814_0_12:notes">
            <a:extLst>
              <a:ext uri="{FF2B5EF4-FFF2-40B4-BE49-F238E27FC236}">
                <a16:creationId xmlns:a16="http://schemas.microsoft.com/office/drawing/2014/main" id="{3B65F005-C424-1E6A-582D-22ACAB0653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45878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34F5CA42-644F-65EF-F097-E55034EAA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b8301f814_0_12:notes">
            <a:extLst>
              <a:ext uri="{FF2B5EF4-FFF2-40B4-BE49-F238E27FC236}">
                <a16:creationId xmlns:a16="http://schemas.microsoft.com/office/drawing/2014/main" id="{6BEA4F41-80E1-CBFF-6D4D-F98772D366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b8301f814_0_12:notes">
            <a:extLst>
              <a:ext uri="{FF2B5EF4-FFF2-40B4-BE49-F238E27FC236}">
                <a16:creationId xmlns:a16="http://schemas.microsoft.com/office/drawing/2014/main" id="{9B4EDE01-DB75-3F0A-1A98-E9A757CFCE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1230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5A1014A1-0051-2507-1772-9145FA00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b8301f814_0_12:notes">
            <a:extLst>
              <a:ext uri="{FF2B5EF4-FFF2-40B4-BE49-F238E27FC236}">
                <a16:creationId xmlns:a16="http://schemas.microsoft.com/office/drawing/2014/main" id="{19AC5E39-B17A-D5FE-8D8B-81E5C1464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b8301f814_0_12:notes">
            <a:extLst>
              <a:ext uri="{FF2B5EF4-FFF2-40B4-BE49-F238E27FC236}">
                <a16:creationId xmlns:a16="http://schemas.microsoft.com/office/drawing/2014/main" id="{080239CD-13F3-724E-A427-BF9E3CD54E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6042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3A8818DA-7461-5F0D-3853-C71352E0D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b8301f814_0_12:notes">
            <a:extLst>
              <a:ext uri="{FF2B5EF4-FFF2-40B4-BE49-F238E27FC236}">
                <a16:creationId xmlns:a16="http://schemas.microsoft.com/office/drawing/2014/main" id="{43943E7D-C1EE-F7A6-16D0-1755CC623B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b8301f814_0_12:notes">
            <a:extLst>
              <a:ext uri="{FF2B5EF4-FFF2-40B4-BE49-F238E27FC236}">
                <a16:creationId xmlns:a16="http://schemas.microsoft.com/office/drawing/2014/main" id="{48E62D93-1A2A-8F05-3163-6F827BFBEC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080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b8301f814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2" name="Google Shape;222;g39b8301f814_2_14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685800" y="1468377"/>
            <a:ext cx="7772400" cy="738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1371600" y="2330041"/>
            <a:ext cx="6400800" cy="104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1371600" y="3509429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2"/>
          </p:nvPr>
        </p:nvSpPr>
        <p:spPr>
          <a:xfrm>
            <a:off x="3550444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6" name="Google Shape;66;p15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722435" y="1993106"/>
            <a:ext cx="7772400" cy="91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2"/>
          </p:nvPr>
        </p:nvSpPr>
        <p:spPr>
          <a:xfrm>
            <a:off x="722435" y="2912273"/>
            <a:ext cx="7772400" cy="36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207172" y="664370"/>
            <a:ext cx="4294493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2"/>
          </p:nvPr>
        </p:nvSpPr>
        <p:spPr>
          <a:xfrm>
            <a:off x="4642341" y="664370"/>
            <a:ext cx="4308781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3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5" name="Google Shape;75;p17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207169" y="664374"/>
            <a:ext cx="4290098" cy="49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207169" y="1159669"/>
            <a:ext cx="4290098" cy="343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3"/>
          </p:nvPr>
        </p:nvSpPr>
        <p:spPr>
          <a:xfrm>
            <a:off x="4645273" y="664374"/>
            <a:ext cx="4305848" cy="49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4"/>
          </p:nvPr>
        </p:nvSpPr>
        <p:spPr>
          <a:xfrm>
            <a:off x="4645273" y="1159669"/>
            <a:ext cx="4305848" cy="343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5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3" name="Google Shape;83;p18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207172" y="664374"/>
            <a:ext cx="3258469" cy="41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3575540" y="664370"/>
            <a:ext cx="5375581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2"/>
          </p:nvPr>
        </p:nvSpPr>
        <p:spPr>
          <a:xfrm>
            <a:off x="207172" y="1076326"/>
            <a:ext cx="3258469" cy="35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3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9" name="Google Shape;89;p19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19"/>
          <p:cNvSpPr txBox="1"/>
          <p:nvPr/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Title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1792166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20"/>
          <p:cNvSpPr>
            <a:spLocks noGrp="1"/>
          </p:cNvSpPr>
          <p:nvPr>
            <p:ph type="pic" idx="2"/>
          </p:nvPr>
        </p:nvSpPr>
        <p:spPr>
          <a:xfrm>
            <a:off x="1792166" y="664370"/>
            <a:ext cx="5486400" cy="2881311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1792166" y="4025504"/>
            <a:ext cx="5486400" cy="56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body" idx="1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98" name="Google Shape;98;p21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92890" y="4833388"/>
            <a:ext cx="8851110" cy="308610"/>
          </a:xfrm>
          <a:prstGeom prst="rect">
            <a:avLst/>
          </a:prstGeom>
          <a:solidFill>
            <a:srgbClr val="FFCA0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8765195" y="4914197"/>
            <a:ext cx="304800" cy="15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7529944" y="62894"/>
            <a:ext cx="1614056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Conference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sz="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4731490" y="4843898"/>
            <a:ext cx="3911703" cy="30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Distribution Statement</a:t>
            </a: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Only if applicable.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</a:t>
            </a: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Change me by “View” then “Slide Master”</a:t>
            </a: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3" descr="The Center for Advanced Turbomachinery &amp;amp; Energy Research – CATERing to the  energy needs of society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14008" y="4911826"/>
            <a:ext cx="515690" cy="161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descr="Graphical user interface, text, application, email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 l="22599" t="16593" r="11037" b="35871"/>
          <a:stretch/>
        </p:blipFill>
        <p:spPr>
          <a:xfrm>
            <a:off x="350040" y="4857511"/>
            <a:ext cx="1138519" cy="25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13">
            <a:alphaModFix/>
          </a:blip>
          <a:srcRect t="-1" r="82893" b="30586"/>
          <a:stretch/>
        </p:blipFill>
        <p:spPr>
          <a:xfrm>
            <a:off x="0" y="4833389"/>
            <a:ext cx="292890" cy="3101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86775" y="64978"/>
            <a:ext cx="657225" cy="621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3"/>
          <p:cNvSpPr txBox="1">
            <a:spLocks noGrp="1"/>
          </p:cNvSpPr>
          <p:nvPr>
            <p:ph type="ctrTitle"/>
          </p:nvPr>
        </p:nvSpPr>
        <p:spPr>
          <a:xfrm>
            <a:off x="685800" y="1612756"/>
            <a:ext cx="7772400" cy="738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L16 – Uncorrelated Track Processing</a:t>
            </a:r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ubTitle" idx="1"/>
          </p:nvPr>
        </p:nvSpPr>
        <p:spPr>
          <a:xfrm>
            <a:off x="1371600" y="2474420"/>
            <a:ext cx="6400800" cy="104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By: Kyle Galang, Aurela Broqi, Ruben Dennis, Aaron Nogues, Ezra Stone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 dirty="0"/>
              <a:t> UI Development Updates</a:t>
            </a:r>
            <a:endParaRPr dirty="0"/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 dirty="0"/>
              <a:t> UI LLM development </a:t>
            </a:r>
            <a:endParaRPr dirty="0"/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 dirty="0"/>
              <a:t> Overview of Configurations </a:t>
            </a:r>
            <a:endParaRPr dirty="0"/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 dirty="0"/>
              <a:t> Symbolic Regression Manipulation</a:t>
            </a:r>
            <a:endParaRPr dirty="0"/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 dirty="0"/>
              <a:t> GitHub Run Down</a:t>
            </a:r>
            <a:endParaRPr dirty="0"/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 dirty="0"/>
              <a:t> LLM-SRBENCH/UCT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" sz="1400" dirty="0"/>
              <a:t> Questions</a:t>
            </a:r>
            <a:endParaRPr dirty="0"/>
          </a:p>
        </p:txBody>
      </p:sp>
      <p:pic>
        <p:nvPicPr>
          <p:cNvPr id="116" name="Google Shape;11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User Interface - Development Updates</a:t>
            </a:r>
            <a:endParaRPr/>
          </a:p>
        </p:txBody>
      </p:sp>
      <p:pic>
        <p:nvPicPr>
          <p:cNvPr id="124" name="Google Shape;12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88;p31" descr="Flask Dashboard - Black Design | Codementor">
            <a:extLst>
              <a:ext uri="{FF2B5EF4-FFF2-40B4-BE49-F238E27FC236}">
                <a16:creationId xmlns:a16="http://schemas.microsoft.com/office/drawing/2014/main" id="{9E1982E1-B18D-46C4-286B-E04B93E8858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1112" y="698916"/>
            <a:ext cx="7741776" cy="3870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F409C88D-2C4C-8DD7-A10E-5FE6B9B72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>
            <a:extLst>
              <a:ext uri="{FF2B5EF4-FFF2-40B4-BE49-F238E27FC236}">
                <a16:creationId xmlns:a16="http://schemas.microsoft.com/office/drawing/2014/main" id="{E131501A-61A6-AB02-AA57-B79CD886AD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User Interface - Development Updates</a:t>
            </a:r>
            <a:endParaRPr/>
          </a:p>
        </p:txBody>
      </p:sp>
      <p:pic>
        <p:nvPicPr>
          <p:cNvPr id="124" name="Google Shape;124;p25">
            <a:extLst>
              <a:ext uri="{FF2B5EF4-FFF2-40B4-BE49-F238E27FC236}">
                <a16:creationId xmlns:a16="http://schemas.microsoft.com/office/drawing/2014/main" id="{75C98F8A-F645-62E7-D2FD-E29017EC5D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5">
            <a:extLst>
              <a:ext uri="{FF2B5EF4-FFF2-40B4-BE49-F238E27FC236}">
                <a16:creationId xmlns:a16="http://schemas.microsoft.com/office/drawing/2014/main" id="{D682FAA9-859A-8813-E840-AEAE083BD4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5">
            <a:extLst>
              <a:ext uri="{FF2B5EF4-FFF2-40B4-BE49-F238E27FC236}">
                <a16:creationId xmlns:a16="http://schemas.microsoft.com/office/drawing/2014/main" id="{ED8A6AFC-8C15-EA32-1B39-6E6A39BCF5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CB5966-7859-7014-877D-9650ABC4C5D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4613" y="703140"/>
            <a:ext cx="8134773" cy="38624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7656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User Interface – LLM updates</a:t>
            </a:r>
            <a:endParaRPr/>
          </a:p>
        </p:txBody>
      </p:sp>
      <p:pic>
        <p:nvPicPr>
          <p:cNvPr id="133" name="Google Shape;13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145" y="636693"/>
            <a:ext cx="1984848" cy="41092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03C544-63A1-9BB9-0650-47329DA38F48}"/>
              </a:ext>
            </a:extLst>
          </p:cNvPr>
          <p:cNvSpPr txBox="1"/>
          <p:nvPr/>
        </p:nvSpPr>
        <p:spPr>
          <a:xfrm>
            <a:off x="2165684" y="636693"/>
            <a:ext cx="663465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 trained on </a:t>
            </a:r>
            <a:r>
              <a:rPr lang="en-US" dirty="0" err="1"/>
              <a:t>OpenEvolve</a:t>
            </a:r>
            <a:r>
              <a:rPr lang="en-US" dirty="0"/>
              <a:t> examples:</a:t>
            </a:r>
            <a:br>
              <a:rPr lang="en-US" dirty="0"/>
            </a:br>
            <a:r>
              <a:rPr lang="en-US" dirty="0"/>
              <a:t>Each example problem has some form of these files:</a:t>
            </a:r>
            <a:br>
              <a:rPr lang="en-US" dirty="0"/>
            </a:br>
            <a:r>
              <a:rPr lang="en-US" dirty="0"/>
              <a:t>I. initial_program.py</a:t>
            </a:r>
            <a:br>
              <a:rPr lang="en-US" dirty="0"/>
            </a:br>
            <a:r>
              <a:rPr lang="en-US" dirty="0"/>
              <a:t>II. evaluator.py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create a user input and output to generate code from an LLM to create a basis of the code needed to create for new problems in the future.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problem:</a:t>
            </a:r>
            <a:br>
              <a:rPr lang="en-US" dirty="0"/>
            </a:br>
            <a:r>
              <a:rPr lang="en-US" dirty="0"/>
              <a:t>1. Input a problem you want to create code for: y = mx + b</a:t>
            </a:r>
            <a:br>
              <a:rPr lang="en-US" dirty="0"/>
            </a:br>
            <a:br>
              <a:rPr lang="en-US" dirty="0"/>
            </a:br>
            <a:r>
              <a:rPr lang="en-US" dirty="0"/>
              <a:t>2. LLM generates </a:t>
            </a:r>
            <a:r>
              <a:rPr lang="en-US" dirty="0" err="1"/>
              <a:t>initial_program</a:t>
            </a:r>
            <a:r>
              <a:rPr lang="en-US" dirty="0"/>
              <a:t> function based off problem specified.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3. Prompt LLM to generate an evaluator based off metrics you want to identify.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* Won’t be perfect but it will give a head start on programming such files for future use.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00" cy="351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Configurations - Parameters:Config</a:t>
            </a:r>
            <a:r>
              <a:rPr lang="en" sz="1400" b="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204" name="Google Shape;20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3"/>
          <p:cNvSpPr txBox="1"/>
          <p:nvPr/>
        </p:nvSpPr>
        <p:spPr>
          <a:xfrm>
            <a:off x="5375525" y="855563"/>
            <a:ext cx="3120600" cy="35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General</a:t>
            </a:r>
            <a:endParaRPr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 iterations : int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Checkpoint Interval : int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 based evolution :bool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LLM</a:t>
            </a:r>
            <a:endParaRPr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Temperature : float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 tokens : int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Timeout : float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Retries :int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Prompt</a:t>
            </a:r>
            <a:endParaRPr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message : String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top Programs : int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diverse Programs : int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</p:txBody>
      </p:sp>
      <p:sp>
        <p:nvSpPr>
          <p:cNvPr id="208" name="Google Shape;208;p33"/>
          <p:cNvSpPr txBox="1"/>
          <p:nvPr/>
        </p:nvSpPr>
        <p:spPr>
          <a:xfrm>
            <a:off x="185000" y="855575"/>
            <a:ext cx="4655700" cy="3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configuration file is integral to Open Evolve.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parameters of the Config file do change how open evolve operates within its bounds.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Some examples categorized by </a:t>
            </a:r>
            <a:r>
              <a:rPr lang="en" i="1" dirty="0"/>
              <a:t>Italics</a:t>
            </a:r>
            <a:r>
              <a:rPr lang="en" dirty="0"/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measurement tool for benchmarking Open Evolve will take a control problem and adjust all components of the config file.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00" cy="351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Configurations - Parameters:Evaluator</a:t>
            </a:r>
            <a:endParaRPr/>
          </a:p>
        </p:txBody>
      </p:sp>
      <p:pic>
        <p:nvPicPr>
          <p:cNvPr id="214" name="Google Shape;21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4"/>
          <p:cNvSpPr txBox="1"/>
          <p:nvPr/>
        </p:nvSpPr>
        <p:spPr>
          <a:xfrm>
            <a:off x="343650" y="918925"/>
            <a:ext cx="3673500" cy="27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Evaluator will be the normal evaluator for the Control Problem but also output the data into a spreadsheet format.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Overall Score like in the UI will be used to track the parameters effect on the performance.</a:t>
            </a:r>
            <a:endParaRPr/>
          </a:p>
        </p:txBody>
      </p:sp>
      <p:pic>
        <p:nvPicPr>
          <p:cNvPr id="218" name="Google Shape;21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2700" y="918929"/>
            <a:ext cx="4822049" cy="195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0163" y="3631263"/>
            <a:ext cx="7077075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F684BAFB-763D-A5A2-11FD-32CB54742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>
            <a:extLst>
              <a:ext uri="{FF2B5EF4-FFF2-40B4-BE49-F238E27FC236}">
                <a16:creationId xmlns:a16="http://schemas.microsoft.com/office/drawing/2014/main" id="{61018FA3-C15D-0CD8-7981-28E17A67AB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00" cy="351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Symbolic Regression</a:t>
            </a:r>
            <a:endParaRPr dirty="0"/>
          </a:p>
        </p:txBody>
      </p:sp>
      <p:pic>
        <p:nvPicPr>
          <p:cNvPr id="214" name="Google Shape;214;p34">
            <a:extLst>
              <a:ext uri="{FF2B5EF4-FFF2-40B4-BE49-F238E27FC236}">
                <a16:creationId xmlns:a16="http://schemas.microsoft.com/office/drawing/2014/main" id="{EFEAD8AA-E6CD-52A4-236C-55FBDCA4FB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4">
            <a:extLst>
              <a:ext uri="{FF2B5EF4-FFF2-40B4-BE49-F238E27FC236}">
                <a16:creationId xmlns:a16="http://schemas.microsoft.com/office/drawing/2014/main" id="{ABCC67AF-AA0E-A893-C00A-AB2039F3A5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4">
            <a:extLst>
              <a:ext uri="{FF2B5EF4-FFF2-40B4-BE49-F238E27FC236}">
                <a16:creationId xmlns:a16="http://schemas.microsoft.com/office/drawing/2014/main" id="{D0658067-09D4-232D-8CFD-2C5B6320A2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4">
            <a:extLst>
              <a:ext uri="{FF2B5EF4-FFF2-40B4-BE49-F238E27FC236}">
                <a16:creationId xmlns:a16="http://schemas.microsoft.com/office/drawing/2014/main" id="{4A139A19-E427-79B3-3065-8BB9EAA3F93A}"/>
              </a:ext>
            </a:extLst>
          </p:cNvPr>
          <p:cNvSpPr txBox="1"/>
          <p:nvPr/>
        </p:nvSpPr>
        <p:spPr>
          <a:xfrm>
            <a:off x="207171" y="600501"/>
            <a:ext cx="8792450" cy="4081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09FC566-C86C-3606-E8B5-1337DE58A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21" y="1104555"/>
            <a:ext cx="7723758" cy="293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185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CCA25FD2-1DD6-BB33-5CF0-4075A3839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>
            <a:extLst>
              <a:ext uri="{FF2B5EF4-FFF2-40B4-BE49-F238E27FC236}">
                <a16:creationId xmlns:a16="http://schemas.microsoft.com/office/drawing/2014/main" id="{7FCDED14-3219-6775-E4A9-C68B04C31F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00" cy="351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Symbolic Regression</a:t>
            </a:r>
            <a:endParaRPr dirty="0"/>
          </a:p>
        </p:txBody>
      </p:sp>
      <p:pic>
        <p:nvPicPr>
          <p:cNvPr id="214" name="Google Shape;214;p34">
            <a:extLst>
              <a:ext uri="{FF2B5EF4-FFF2-40B4-BE49-F238E27FC236}">
                <a16:creationId xmlns:a16="http://schemas.microsoft.com/office/drawing/2014/main" id="{4822313A-2844-D20E-6C1A-24D2FD8958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4">
            <a:extLst>
              <a:ext uri="{FF2B5EF4-FFF2-40B4-BE49-F238E27FC236}">
                <a16:creationId xmlns:a16="http://schemas.microsoft.com/office/drawing/2014/main" id="{EC29B063-44C7-A6D4-7512-72FCC074508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4">
            <a:extLst>
              <a:ext uri="{FF2B5EF4-FFF2-40B4-BE49-F238E27FC236}">
                <a16:creationId xmlns:a16="http://schemas.microsoft.com/office/drawing/2014/main" id="{DC8B0585-AC29-6E12-23B6-6658B8CF710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4">
            <a:extLst>
              <a:ext uri="{FF2B5EF4-FFF2-40B4-BE49-F238E27FC236}">
                <a16:creationId xmlns:a16="http://schemas.microsoft.com/office/drawing/2014/main" id="{43A079C3-CC25-3A3D-72EB-ED47ED4DF0CB}"/>
              </a:ext>
            </a:extLst>
          </p:cNvPr>
          <p:cNvSpPr txBox="1"/>
          <p:nvPr/>
        </p:nvSpPr>
        <p:spPr>
          <a:xfrm>
            <a:off x="207171" y="600501"/>
            <a:ext cx="8792450" cy="4081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 descr="A black and white striped background&#10;&#10;AI-generated content may be incorrect.">
            <a:extLst>
              <a:ext uri="{FF2B5EF4-FFF2-40B4-BE49-F238E27FC236}">
                <a16:creationId xmlns:a16="http://schemas.microsoft.com/office/drawing/2014/main" id="{D8DDFBB4-1341-4F5F-AFBC-FF49F1A76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171" y="627608"/>
            <a:ext cx="8792450" cy="1681244"/>
          </a:xfrm>
          <a:prstGeom prst="rect">
            <a:avLst/>
          </a:prstGeom>
        </p:spPr>
      </p:pic>
      <p:pic>
        <p:nvPicPr>
          <p:cNvPr id="6" name="Picture 5" descr="A close-up of a black background&#10;&#10;AI-generated content may be incorrect.">
            <a:extLst>
              <a:ext uri="{FF2B5EF4-FFF2-40B4-BE49-F238E27FC236}">
                <a16:creationId xmlns:a16="http://schemas.microsoft.com/office/drawing/2014/main" id="{05D40EC8-937B-BE79-3BCD-857B2F750C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558" y="3010221"/>
            <a:ext cx="6792884" cy="97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6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974B275C-C704-4909-E7FA-2D2AD5CC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>
            <a:extLst>
              <a:ext uri="{FF2B5EF4-FFF2-40B4-BE49-F238E27FC236}">
                <a16:creationId xmlns:a16="http://schemas.microsoft.com/office/drawing/2014/main" id="{34B8A02B-2344-D569-5E09-DA704796B0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00" cy="351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GitHub Run Down</a:t>
            </a:r>
            <a:endParaRPr dirty="0"/>
          </a:p>
        </p:txBody>
      </p:sp>
      <p:pic>
        <p:nvPicPr>
          <p:cNvPr id="214" name="Google Shape;214;p34">
            <a:extLst>
              <a:ext uri="{FF2B5EF4-FFF2-40B4-BE49-F238E27FC236}">
                <a16:creationId xmlns:a16="http://schemas.microsoft.com/office/drawing/2014/main" id="{98BF689C-FDE4-4CE5-B6E2-C82718C6D8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4">
            <a:extLst>
              <a:ext uri="{FF2B5EF4-FFF2-40B4-BE49-F238E27FC236}">
                <a16:creationId xmlns:a16="http://schemas.microsoft.com/office/drawing/2014/main" id="{AFAB334B-A58D-FCA1-413C-240B834D92F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4">
            <a:extLst>
              <a:ext uri="{FF2B5EF4-FFF2-40B4-BE49-F238E27FC236}">
                <a16:creationId xmlns:a16="http://schemas.microsoft.com/office/drawing/2014/main" id="{AB27688C-E694-B19D-EB64-3EFAF7A04C7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0EE86FE-5A1F-3CA2-F8B0-5D1B58651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660" y="664370"/>
            <a:ext cx="8310880" cy="400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668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FA8CF38B-4891-8597-79EB-7E1D4606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>
            <a:extLst>
              <a:ext uri="{FF2B5EF4-FFF2-40B4-BE49-F238E27FC236}">
                <a16:creationId xmlns:a16="http://schemas.microsoft.com/office/drawing/2014/main" id="{A175A1FD-4D4E-D5D0-1221-F6AA3FAC23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00" cy="351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LLM-SRBENCH/UCT</a:t>
            </a:r>
            <a:endParaRPr dirty="0"/>
          </a:p>
        </p:txBody>
      </p:sp>
      <p:pic>
        <p:nvPicPr>
          <p:cNvPr id="214" name="Google Shape;214;p34">
            <a:extLst>
              <a:ext uri="{FF2B5EF4-FFF2-40B4-BE49-F238E27FC236}">
                <a16:creationId xmlns:a16="http://schemas.microsoft.com/office/drawing/2014/main" id="{1685B704-BF15-8E15-9354-B37D49267B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4">
            <a:extLst>
              <a:ext uri="{FF2B5EF4-FFF2-40B4-BE49-F238E27FC236}">
                <a16:creationId xmlns:a16="http://schemas.microsoft.com/office/drawing/2014/main" id="{69E51D14-6AA3-FAE4-2EED-277B90A3092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4">
            <a:extLst>
              <a:ext uri="{FF2B5EF4-FFF2-40B4-BE49-F238E27FC236}">
                <a16:creationId xmlns:a16="http://schemas.microsoft.com/office/drawing/2014/main" id="{28CC71D2-4C7F-C037-0115-4D4BE6C544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E6F007-355A-F096-71B0-F146989A5A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979" r="3404" b="4613"/>
          <a:stretch>
            <a:fillRect/>
          </a:stretch>
        </p:blipFill>
        <p:spPr>
          <a:xfrm>
            <a:off x="435722" y="737764"/>
            <a:ext cx="4393343" cy="33344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D7638B-46E7-ADA9-0134-D4AFEECB07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1304" y="666893"/>
            <a:ext cx="3636974" cy="362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57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225" name="Google Shape;225;p35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dirty="0"/>
              <a:t>Open discussions</a:t>
            </a:r>
            <a:br>
              <a:rPr lang="en" sz="1400" dirty="0"/>
            </a:br>
            <a:endParaRPr lang="en" sz="1400" dirty="0"/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dirty="0"/>
              <a:t>Hugging face imports</a:t>
            </a:r>
            <a:endParaRPr sz="1400" dirty="0"/>
          </a:p>
        </p:txBody>
      </p:sp>
      <p:pic>
        <p:nvPicPr>
          <p:cNvPr id="226" name="Google Shape;22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UCF_Kapat_2007Jan_Project">
  <a:themeElements>
    <a:clrScheme name="">
      <a:dk1>
        <a:srgbClr val="000000"/>
      </a:dk1>
      <a:lt1>
        <a:srgbClr val="EAEAEA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3F3F3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376</Words>
  <Application>Microsoft Office PowerPoint</Application>
  <PresentationFormat>On-screen Show (16:9)</PresentationFormat>
  <Paragraphs>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Simple Light</vt:lpstr>
      <vt:lpstr>1_UCF_Kapat_2007Jan_Project</vt:lpstr>
      <vt:lpstr>L16 – Uncorrelated Track Processing</vt:lpstr>
      <vt:lpstr>Table of Contents</vt:lpstr>
      <vt:lpstr>User Interface - Development Updates</vt:lpstr>
      <vt:lpstr>User Interface - Development Updates</vt:lpstr>
      <vt:lpstr>User Interface – LLM updates</vt:lpstr>
      <vt:lpstr>Overview of Configurations - Parameters:Config </vt:lpstr>
      <vt:lpstr>Overview of Configurations - Parameters:Evaluator</vt:lpstr>
      <vt:lpstr>Symbolic Regression</vt:lpstr>
      <vt:lpstr>Symbolic Regression</vt:lpstr>
      <vt:lpstr>GitHub Run Down</vt:lpstr>
      <vt:lpstr>LLM-SRBENCH/UCT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 g</dc:creator>
  <cp:lastModifiedBy>Kyle Galang</cp:lastModifiedBy>
  <cp:revision>3</cp:revision>
  <dcterms:modified xsi:type="dcterms:W3CDTF">2025-10-22T16:39:50Z</dcterms:modified>
</cp:coreProperties>
</file>