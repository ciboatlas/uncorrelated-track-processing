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  <p:sldMasterId id="2147483669" r:id="rId2"/>
  </p:sldMasterIdLst>
  <p:notesMasterIdLst>
    <p:notesMasterId r:id="rId11"/>
  </p:notesMasterIdLst>
  <p:sldIdLst>
    <p:sldId id="256" r:id="rId3"/>
    <p:sldId id="257" r:id="rId4"/>
    <p:sldId id="448" r:id="rId5"/>
    <p:sldId id="1042653389" r:id="rId6"/>
    <p:sldId id="1042653411" r:id="rId7"/>
    <p:sldId id="1042653410" r:id="rId8"/>
    <p:sldId id="1042653408" r:id="rId9"/>
    <p:sldId id="268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71F3D735-CA63-4AEC-A0B3-ED3692785BA0}">
          <p14:sldIdLst>
            <p14:sldId id="256"/>
            <p14:sldId id="257"/>
            <p14:sldId id="448"/>
            <p14:sldId id="1042653389"/>
            <p14:sldId id="1042653411"/>
            <p14:sldId id="1042653410"/>
            <p14:sldId id="1042653408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DE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2566" autoAdjust="0"/>
  </p:normalViewPr>
  <p:slideViewPr>
    <p:cSldViewPr snapToGrid="0">
      <p:cViewPr varScale="1">
        <p:scale>
          <a:sx n="136" d="100"/>
          <a:sy n="136" d="100"/>
        </p:scale>
        <p:origin x="1098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b8301f814_2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7388"/>
            <a:ext cx="6092825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2" name="Google Shape;102;g39b8301f814_2_50:notes"/>
          <p:cNvSpPr txBox="1">
            <a:spLocks noGrp="1"/>
          </p:cNvSpPr>
          <p:nvPr>
            <p:ph type="body" idx="1"/>
          </p:nvPr>
        </p:nvSpPr>
        <p:spPr>
          <a:xfrm>
            <a:off x="914401" y="4343402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 - FILL IN / REMOVE ALL NOTES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b8301f814_2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7388"/>
            <a:ext cx="6092825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2" name="Google Shape;112;g39b8301f814_2_60:notes"/>
          <p:cNvSpPr txBox="1">
            <a:spLocks noGrp="1"/>
          </p:cNvSpPr>
          <p:nvPr>
            <p:ph type="body" idx="1"/>
          </p:nvPr>
        </p:nvSpPr>
        <p:spPr>
          <a:xfrm>
            <a:off x="914401" y="4343402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296BA-15CB-043E-048F-3D114C472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FF296C-20A9-3020-3FB4-948D8F24F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F8E2E-0BE2-3089-5972-721944901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382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1E718-068D-86E4-51C1-521A653D7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C73EDE-A6D7-89AB-71A6-DF7EF6DE2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442EC1-2A1C-DAC7-91DC-CBAECB7C8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97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06422-8C6A-38B2-6DB2-53DE3A675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AFA13C-1B53-7B35-533C-7E79F8A92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029C3E-93BB-4F1A-7A3C-767CD97CD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7441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35424-B733-DBB6-61D3-1B6F7FFB4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2C808-9F75-0ED5-AD72-936632A11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DDBD4B-0809-32F3-CF2F-865DB56E5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106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4935D-EF2D-EA3D-465F-11C01D82C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654A1-E467-AD46-4574-C21410EE56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7C6868-F39D-B3BE-06DE-B6748F280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442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b8301f814_2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7388"/>
            <a:ext cx="6092825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22" name="Google Shape;222;g39b8301f814_2_140:notes"/>
          <p:cNvSpPr txBox="1">
            <a:spLocks noGrp="1"/>
          </p:cNvSpPr>
          <p:nvPr>
            <p:ph type="body" idx="1"/>
          </p:nvPr>
        </p:nvSpPr>
        <p:spPr>
          <a:xfrm>
            <a:off x="914401" y="4343402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685800" y="1468377"/>
            <a:ext cx="7772400" cy="738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1371600" y="2330041"/>
            <a:ext cx="6400800" cy="104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1371600" y="3509429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207169" y="664370"/>
            <a:ext cx="8743950" cy="393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2"/>
          </p:nvPr>
        </p:nvSpPr>
        <p:spPr>
          <a:xfrm>
            <a:off x="3550444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66" name="Google Shape;66;p15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722435" y="1993106"/>
            <a:ext cx="7772400" cy="919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2"/>
          </p:nvPr>
        </p:nvSpPr>
        <p:spPr>
          <a:xfrm>
            <a:off x="722435" y="2912273"/>
            <a:ext cx="7772400" cy="365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body" idx="1"/>
          </p:nvPr>
        </p:nvSpPr>
        <p:spPr>
          <a:xfrm>
            <a:off x="207172" y="664370"/>
            <a:ext cx="4294493" cy="3930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body" idx="2"/>
          </p:nvPr>
        </p:nvSpPr>
        <p:spPr>
          <a:xfrm>
            <a:off x="4642341" y="664370"/>
            <a:ext cx="4308781" cy="3930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body" idx="3"/>
          </p:nvPr>
        </p:nvSpPr>
        <p:spPr>
          <a:xfrm>
            <a:off x="207169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5" name="Google Shape;75;p17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title"/>
          </p:nvPr>
        </p:nvSpPr>
        <p:spPr>
          <a:xfrm>
            <a:off x="207172" y="664374"/>
            <a:ext cx="3258469" cy="411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body" idx="1"/>
          </p:nvPr>
        </p:nvSpPr>
        <p:spPr>
          <a:xfrm>
            <a:off x="3575540" y="664370"/>
            <a:ext cx="5375581" cy="3930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2"/>
          </p:nvPr>
        </p:nvSpPr>
        <p:spPr>
          <a:xfrm>
            <a:off x="207172" y="1076326"/>
            <a:ext cx="3258469" cy="35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3"/>
          </p:nvPr>
        </p:nvSpPr>
        <p:spPr>
          <a:xfrm>
            <a:off x="207169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89" name="Google Shape;89;p19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" name="Google Shape;90;p19"/>
          <p:cNvSpPr txBox="1"/>
          <p:nvPr/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Title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>
            <a:spLocks noGrp="1"/>
          </p:cNvSpPr>
          <p:nvPr>
            <p:ph type="title"/>
          </p:nvPr>
        </p:nvSpPr>
        <p:spPr>
          <a:xfrm>
            <a:off x="1792166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Google Shape;93;p20"/>
          <p:cNvSpPr>
            <a:spLocks noGrp="1"/>
          </p:cNvSpPr>
          <p:nvPr>
            <p:ph type="pic" idx="2"/>
          </p:nvPr>
        </p:nvSpPr>
        <p:spPr>
          <a:xfrm>
            <a:off x="1792166" y="664370"/>
            <a:ext cx="5486400" cy="2881311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20"/>
          <p:cNvSpPr txBox="1">
            <a:spLocks noGrp="1"/>
          </p:cNvSpPr>
          <p:nvPr>
            <p:ph type="body" idx="1"/>
          </p:nvPr>
        </p:nvSpPr>
        <p:spPr>
          <a:xfrm>
            <a:off x="1792166" y="4025504"/>
            <a:ext cx="5486400" cy="56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>
            <a:spLocks noGrp="1"/>
          </p:cNvSpPr>
          <p:nvPr>
            <p:ph type="body" idx="1"/>
          </p:nvPr>
        </p:nvSpPr>
        <p:spPr>
          <a:xfrm>
            <a:off x="207169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98" name="Google Shape;98;p21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7170" y="56393"/>
            <a:ext cx="7341339" cy="351234"/>
          </a:xfrm>
          <a:prstGeom prst="rect">
            <a:avLst/>
          </a:prstGeom>
        </p:spPr>
        <p:txBody>
          <a:bodyPr anchor="ctr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169" y="664369"/>
            <a:ext cx="8743950" cy="3930258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3550444" y="4386808"/>
            <a:ext cx="2057400" cy="2078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75" i="1" baseline="0"/>
            </a:lvl1pPr>
          </a:lstStyle>
          <a:p>
            <a:pPr lvl="0"/>
            <a:r>
              <a:rPr lang="en-US"/>
              <a:t>Figure or Table N: Caption.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D28861-EA7A-5C09-B3F3-3763539B7998}"/>
              </a:ext>
            </a:extLst>
          </p:cNvPr>
          <p:cNvCxnSpPr/>
          <p:nvPr userDrawn="1"/>
        </p:nvCxnSpPr>
        <p:spPr bwMode="auto">
          <a:xfrm>
            <a:off x="-7144" y="495678"/>
            <a:ext cx="9155430" cy="0"/>
          </a:xfrm>
          <a:prstGeom prst="line">
            <a:avLst/>
          </a:prstGeom>
          <a:solidFill>
            <a:srgbClr val="FFFFFF"/>
          </a:solidFill>
          <a:ln w="66675" cap="flat" cmpd="sng" algn="ctr">
            <a:solidFill>
              <a:srgbClr val="FFCA0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00480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2.jp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292890" y="4833388"/>
            <a:ext cx="8851110" cy="308610"/>
          </a:xfrm>
          <a:prstGeom prst="rect">
            <a:avLst/>
          </a:prstGeom>
          <a:solidFill>
            <a:srgbClr val="FFCA06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 txBox="1"/>
          <p:nvPr/>
        </p:nvSpPr>
        <p:spPr>
          <a:xfrm>
            <a:off x="8765195" y="4914197"/>
            <a:ext cx="304800" cy="15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3"/>
          <p:cNvSpPr txBox="1"/>
          <p:nvPr/>
        </p:nvSpPr>
        <p:spPr>
          <a:xfrm>
            <a:off x="7529944" y="62894"/>
            <a:ext cx="1614056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Conference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 sz="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3"/>
          <p:cNvSpPr txBox="1"/>
          <p:nvPr/>
        </p:nvSpPr>
        <p:spPr>
          <a:xfrm>
            <a:off x="4731490" y="4843898"/>
            <a:ext cx="3911703" cy="302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Distribution Statement</a:t>
            </a: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Only if applicable.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</a:t>
            </a: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Change me by “View” then “Slide Master”</a:t>
            </a:r>
            <a:endParaRPr sz="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13" descr="The Center for Advanced Turbomachinery &amp;amp; Energy Research – CATERing to the  energy needs of society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514008" y="4911826"/>
            <a:ext cx="515690" cy="161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descr="Graphical user interface, text, application, email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 l="22599" t="16593" r="11037" b="35871"/>
          <a:stretch/>
        </p:blipFill>
        <p:spPr>
          <a:xfrm>
            <a:off x="350040" y="4857511"/>
            <a:ext cx="1138519" cy="25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13">
            <a:alphaModFix/>
          </a:blip>
          <a:srcRect t="-1" r="82893" b="30586"/>
          <a:stretch/>
        </p:blipFill>
        <p:spPr>
          <a:xfrm>
            <a:off x="0" y="4833389"/>
            <a:ext cx="292890" cy="31011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4" r:id="rId5"/>
    <p:sldLayoutId id="2147483665" r:id="rId6"/>
    <p:sldLayoutId id="2147483666" r:id="rId7"/>
    <p:sldLayoutId id="2147483667" r:id="rId8"/>
    <p:sldLayoutId id="214748367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86775" y="64978"/>
            <a:ext cx="657225" cy="621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3"/>
          <p:cNvSpPr txBox="1">
            <a:spLocks noGrp="1"/>
          </p:cNvSpPr>
          <p:nvPr>
            <p:ph type="ctrTitle"/>
          </p:nvPr>
        </p:nvSpPr>
        <p:spPr>
          <a:xfrm>
            <a:off x="685800" y="1612756"/>
            <a:ext cx="7772400" cy="738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L16 – Uncorrelated Track Processing</a:t>
            </a:r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subTitle" idx="1"/>
          </p:nvPr>
        </p:nvSpPr>
        <p:spPr>
          <a:xfrm>
            <a:off x="1371600" y="2474420"/>
            <a:ext cx="6400800" cy="104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By: Kyle Galang, Aurela Broqi, Ruben Dennis, Aaron Nogues, Ezra Stone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body" idx="1"/>
          </p:nvPr>
        </p:nvSpPr>
        <p:spPr>
          <a:xfrm>
            <a:off x="207169" y="664370"/>
            <a:ext cx="8743950" cy="393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01600" lvl="1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sz="1400" dirty="0"/>
              <a:t> Project Maturation	</a:t>
            </a:r>
          </a:p>
          <a:p>
            <a:pPr marL="101600" lvl="1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sz="1400" dirty="0"/>
              <a:t> Continuous Integration/Continuous Pipeline Development </a:t>
            </a:r>
          </a:p>
          <a:p>
            <a:pPr marL="101600" lvl="1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sz="1400" dirty="0"/>
              <a:t> Development Updates</a:t>
            </a:r>
          </a:p>
          <a:p>
            <a:pPr marL="101600" lvl="1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sz="1400" dirty="0"/>
              <a:t> Current Focus and Needs</a:t>
            </a:r>
          </a:p>
          <a:p>
            <a:pPr marL="101600" lvl="1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sz="1400" dirty="0"/>
              <a:t> Questions and Discussions</a:t>
            </a:r>
            <a:endParaRPr lang="en-US" dirty="0"/>
          </a:p>
        </p:txBody>
      </p:sp>
      <p:pic>
        <p:nvPicPr>
          <p:cNvPr id="116" name="Google Shape;11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9BE08-3C3C-E568-3D6D-148578B2A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9E129-DA6A-82A1-E56F-D365C8A17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 anchor="ctr"/>
          <a:lstStyle/>
          <a:p>
            <a:r>
              <a:rPr lang="en-US" sz="1600" b="1" dirty="0"/>
              <a:t>Project Maturation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BF89E-A7F1-0858-0590-AA1E826B4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170" y="488929"/>
            <a:ext cx="8743950" cy="393025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200" b="1" dirty="0"/>
              <a:t>The following items to be discussed</a:t>
            </a:r>
          </a:p>
          <a:p>
            <a:pPr lvl="1">
              <a:lnSpc>
                <a:spcPct val="150000"/>
              </a:lnSpc>
            </a:pPr>
            <a:r>
              <a:rPr lang="en-US" sz="1200" dirty="0"/>
              <a:t>Environment Setup:</a:t>
            </a:r>
          </a:p>
          <a:p>
            <a:pPr lvl="2">
              <a:lnSpc>
                <a:spcPct val="150000"/>
              </a:lnSpc>
            </a:pPr>
            <a:r>
              <a:rPr lang="en-US" sz="1200" dirty="0"/>
              <a:t>GitHub Repository – </a:t>
            </a:r>
            <a:r>
              <a:rPr lang="en-US" sz="1200" i="1" dirty="0">
                <a:solidFill>
                  <a:srgbClr val="00B050"/>
                </a:solidFill>
              </a:rPr>
              <a:t>mature</a:t>
            </a:r>
          </a:p>
          <a:p>
            <a:pPr lvl="2">
              <a:lnSpc>
                <a:spcPct val="150000"/>
              </a:lnSpc>
            </a:pPr>
            <a:r>
              <a:rPr lang="en-US" sz="1200" dirty="0"/>
              <a:t>SDA TAP Lab &amp; UDA access – </a:t>
            </a:r>
            <a:r>
              <a:rPr lang="en-US" sz="1200" i="1" dirty="0">
                <a:solidFill>
                  <a:srgbClr val="00B050"/>
                </a:solidFill>
              </a:rPr>
              <a:t>mature</a:t>
            </a:r>
          </a:p>
          <a:p>
            <a:pPr lvl="2">
              <a:lnSpc>
                <a:spcPct val="150000"/>
              </a:lnSpc>
            </a:pPr>
            <a:r>
              <a:rPr lang="en-US" sz="1200" dirty="0"/>
              <a:t>Open </a:t>
            </a:r>
            <a:r>
              <a:rPr lang="en-US" sz="1200" dirty="0" err="1"/>
              <a:t>Ondemand</a:t>
            </a:r>
            <a:r>
              <a:rPr lang="en-US" sz="1200" dirty="0"/>
              <a:t> – </a:t>
            </a:r>
            <a:r>
              <a:rPr lang="en-US" sz="1200" i="1" dirty="0">
                <a:solidFill>
                  <a:srgbClr val="C00000"/>
                </a:solidFill>
              </a:rPr>
              <a:t>identified later through the access of HPC</a:t>
            </a:r>
          </a:p>
          <a:p>
            <a:pPr lvl="2">
              <a:lnSpc>
                <a:spcPct val="150000"/>
              </a:lnSpc>
            </a:pPr>
            <a:r>
              <a:rPr lang="en-US" sz="1200" dirty="0"/>
              <a:t>Documentation – </a:t>
            </a:r>
            <a:r>
              <a:rPr lang="en-US" sz="1200" i="1" dirty="0">
                <a:solidFill>
                  <a:srgbClr val="FFC000"/>
                </a:solidFill>
              </a:rPr>
              <a:t>ongoing as we develop further into symbolic regression benchmarking example</a:t>
            </a:r>
          </a:p>
          <a:p>
            <a:pPr lvl="2">
              <a:lnSpc>
                <a:spcPct val="150000"/>
              </a:lnSpc>
            </a:pPr>
            <a:endParaRPr lang="en-US" sz="1200" i="1" dirty="0">
              <a:solidFill>
                <a:srgbClr val="00B05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1200" dirty="0"/>
              <a:t>Design level requirements:</a:t>
            </a:r>
          </a:p>
          <a:p>
            <a:pPr lvl="2">
              <a:lnSpc>
                <a:spcPct val="150000"/>
              </a:lnSpc>
            </a:pPr>
            <a:r>
              <a:rPr lang="en-US" sz="1200" dirty="0"/>
              <a:t>Design Schematics – </a:t>
            </a:r>
            <a:r>
              <a:rPr lang="en-US" sz="1200" i="1" dirty="0">
                <a:solidFill>
                  <a:srgbClr val="00B050"/>
                </a:solidFill>
              </a:rPr>
              <a:t>mature</a:t>
            </a:r>
          </a:p>
          <a:p>
            <a:pPr lvl="2">
              <a:lnSpc>
                <a:spcPct val="150000"/>
              </a:lnSpc>
            </a:pPr>
            <a:r>
              <a:rPr lang="en-US" sz="1200" dirty="0"/>
              <a:t>Tech Stack – </a:t>
            </a:r>
            <a:r>
              <a:rPr lang="en-US" sz="1200" i="1" dirty="0">
                <a:solidFill>
                  <a:srgbClr val="00B050"/>
                </a:solidFill>
              </a:rPr>
              <a:t>mature</a:t>
            </a:r>
            <a:br>
              <a:rPr lang="en-US" sz="1200" i="1" dirty="0">
                <a:solidFill>
                  <a:srgbClr val="C00000"/>
                </a:solidFill>
              </a:rPr>
            </a:br>
            <a:br>
              <a:rPr lang="en-US" sz="1200" i="1" dirty="0">
                <a:solidFill>
                  <a:srgbClr val="C00000"/>
                </a:solidFill>
              </a:rPr>
            </a:br>
            <a:r>
              <a:rPr lang="en-US" sz="1200" dirty="0"/>
              <a:t>Development:</a:t>
            </a:r>
          </a:p>
          <a:p>
            <a:pPr lvl="2">
              <a:lnSpc>
                <a:spcPct val="150000"/>
              </a:lnSpc>
            </a:pPr>
            <a:r>
              <a:rPr lang="en-US" sz="1200" dirty="0"/>
              <a:t>Graphical User Interface – </a:t>
            </a:r>
            <a:r>
              <a:rPr lang="en-US" sz="1200" i="1" dirty="0">
                <a:solidFill>
                  <a:srgbClr val="00B050"/>
                </a:solidFill>
              </a:rPr>
              <a:t>mature </a:t>
            </a:r>
          </a:p>
          <a:p>
            <a:pPr lvl="2">
              <a:lnSpc>
                <a:spcPct val="150000"/>
              </a:lnSpc>
            </a:pPr>
            <a:r>
              <a:rPr lang="en-US" sz="1200" dirty="0"/>
              <a:t>LLM development – </a:t>
            </a:r>
            <a:r>
              <a:rPr lang="en-US" sz="1200" i="1" dirty="0">
                <a:solidFill>
                  <a:srgbClr val="FFC000"/>
                </a:solidFill>
              </a:rPr>
              <a:t>development phase</a:t>
            </a:r>
          </a:p>
          <a:p>
            <a:pPr lvl="2">
              <a:lnSpc>
                <a:spcPct val="150000"/>
              </a:lnSpc>
            </a:pPr>
            <a:r>
              <a:rPr lang="en-US" sz="1200" dirty="0"/>
              <a:t>Validity environment testing  – </a:t>
            </a:r>
            <a:r>
              <a:rPr lang="en-US" sz="1200" i="1" dirty="0">
                <a:solidFill>
                  <a:srgbClr val="FFC000"/>
                </a:solidFill>
              </a:rPr>
              <a:t>ongoing with CI/CD pipeline</a:t>
            </a:r>
            <a:br>
              <a:rPr lang="en-US" sz="900" i="1" dirty="0">
                <a:solidFill>
                  <a:srgbClr val="C00000"/>
                </a:solidFill>
              </a:rPr>
            </a:br>
            <a:br>
              <a:rPr lang="en-US" sz="863" dirty="0"/>
            </a:br>
            <a:endParaRPr lang="en-US" sz="975" dirty="0"/>
          </a:p>
          <a:p>
            <a:pPr lvl="1"/>
            <a:endParaRPr lang="en-US" sz="1050" dirty="0"/>
          </a:p>
        </p:txBody>
      </p:sp>
      <p:pic>
        <p:nvPicPr>
          <p:cNvPr id="4" name="Google Shape;125;p25">
            <a:extLst>
              <a:ext uri="{FF2B5EF4-FFF2-40B4-BE49-F238E27FC236}">
                <a16:creationId xmlns:a16="http://schemas.microsoft.com/office/drawing/2014/main" id="{B1205B4E-A8D5-8036-860A-8FC43AD952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25">
            <a:extLst>
              <a:ext uri="{FF2B5EF4-FFF2-40B4-BE49-F238E27FC236}">
                <a16:creationId xmlns:a16="http://schemas.microsoft.com/office/drawing/2014/main" id="{E883644B-C931-103B-46FB-3E8885AC93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24">
            <a:extLst>
              <a:ext uri="{FF2B5EF4-FFF2-40B4-BE49-F238E27FC236}">
                <a16:creationId xmlns:a16="http://schemas.microsoft.com/office/drawing/2014/main" id="{CA8515B6-1274-7A0C-D4E1-A529D1F3428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3886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3F4A3-DCCC-D701-7234-5F5DD52AC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DAF3B-4201-903B-FDC0-6B3CF7E19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 anchor="ctr"/>
          <a:lstStyle/>
          <a:p>
            <a:r>
              <a:rPr lang="en-US" sz="1600" b="1" dirty="0"/>
              <a:t>CI/CD Pipeline Development</a:t>
            </a:r>
          </a:p>
        </p:txBody>
      </p:sp>
      <p:pic>
        <p:nvPicPr>
          <p:cNvPr id="4" name="Google Shape;125;p25">
            <a:extLst>
              <a:ext uri="{FF2B5EF4-FFF2-40B4-BE49-F238E27FC236}">
                <a16:creationId xmlns:a16="http://schemas.microsoft.com/office/drawing/2014/main" id="{34D678A6-889B-3B3A-B02A-D9EADE7A595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25">
            <a:extLst>
              <a:ext uri="{FF2B5EF4-FFF2-40B4-BE49-F238E27FC236}">
                <a16:creationId xmlns:a16="http://schemas.microsoft.com/office/drawing/2014/main" id="{F86F9920-104C-A1CC-B2E1-D13FB3EE48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24">
            <a:extLst>
              <a:ext uri="{FF2B5EF4-FFF2-40B4-BE49-F238E27FC236}">
                <a16:creationId xmlns:a16="http://schemas.microsoft.com/office/drawing/2014/main" id="{701087E1-F3E1-8AA8-AF07-A73AB5D8A4C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286505-5FC7-60B8-E85B-F165E25129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456" y="536162"/>
            <a:ext cx="8496886" cy="16094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132468C-2865-EF77-B8F8-6012E03EA9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80" y="2571750"/>
            <a:ext cx="7821637" cy="38888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D0C7DD8-F4E2-7DA9-E6E4-8672B29366E0}"/>
              </a:ext>
            </a:extLst>
          </p:cNvPr>
          <p:cNvSpPr txBox="1"/>
          <p:nvPr/>
        </p:nvSpPr>
        <p:spPr>
          <a:xfrm>
            <a:off x="2273691" y="3392755"/>
            <a:ext cx="4596618" cy="1021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name: Build Docker image for Analytic Console site  working-directory: ./UI-Development  run: |    docker build -t analytic-console-site:${{ </a:t>
            </a:r>
            <a:r>
              <a:rPr lang="en-US" dirty="0" err="1"/>
              <a:t>github.sha</a:t>
            </a:r>
            <a:r>
              <a:rPr lang="en-US" dirty="0"/>
              <a:t> }} .</a:t>
            </a:r>
          </a:p>
        </p:txBody>
      </p:sp>
    </p:spTree>
    <p:extLst>
      <p:ext uri="{BB962C8B-B14F-4D97-AF65-F5344CB8AC3E}">
        <p14:creationId xmlns:p14="http://schemas.microsoft.com/office/powerpoint/2010/main" val="3423682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F7A7E-5FFC-5CF5-79AB-B5FBFBF13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8A3F3-7705-E5D9-D268-99DDB7B07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 anchor="ctr"/>
          <a:lstStyle/>
          <a:p>
            <a:r>
              <a:rPr lang="en-US" sz="1600" b="1" dirty="0"/>
              <a:t>CI/CD Pipeline Development</a:t>
            </a:r>
          </a:p>
        </p:txBody>
      </p:sp>
      <p:pic>
        <p:nvPicPr>
          <p:cNvPr id="4" name="Google Shape;125;p25">
            <a:extLst>
              <a:ext uri="{FF2B5EF4-FFF2-40B4-BE49-F238E27FC236}">
                <a16:creationId xmlns:a16="http://schemas.microsoft.com/office/drawing/2014/main" id="{9F6D3C79-2A44-6626-71B2-EDF632D8F0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25">
            <a:extLst>
              <a:ext uri="{FF2B5EF4-FFF2-40B4-BE49-F238E27FC236}">
                <a16:creationId xmlns:a16="http://schemas.microsoft.com/office/drawing/2014/main" id="{0451D6C7-BBD1-0C3F-1F8B-27F00E9A87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24">
            <a:extLst>
              <a:ext uri="{FF2B5EF4-FFF2-40B4-BE49-F238E27FC236}">
                <a16:creationId xmlns:a16="http://schemas.microsoft.com/office/drawing/2014/main" id="{0FE448EA-FC50-EB25-66DE-02C1DDA3552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A3B81C-7996-8681-342B-D64EBDF1E23C}"/>
              </a:ext>
            </a:extLst>
          </p:cNvPr>
          <p:cNvSpPr txBox="1"/>
          <p:nvPr/>
        </p:nvSpPr>
        <p:spPr>
          <a:xfrm>
            <a:off x="249534" y="746967"/>
            <a:ext cx="8644932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Current website are still static file servers.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Docker allows us to have Python version and nginx installed when we do transfer to HPC.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Since we have a single truth repository for our website in GitHub, code being pushed in there or through local machines can be updated automatically into the website.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Following continuous integration and development for future larger scaled applications for website:</a:t>
            </a:r>
          </a:p>
          <a:p>
            <a:pPr>
              <a:lnSpc>
                <a:spcPct val="150000"/>
              </a:lnSpc>
            </a:pPr>
            <a:r>
              <a:rPr lang="en-US" dirty="0"/>
              <a:t>	- when the website becomes dynamic, we don’t need to install dependencies, set environment 	  variables, APIs, etc. with the usage of docker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Future work: create scripts that allow us to test the website before code changes are done in development.</a:t>
            </a:r>
          </a:p>
        </p:txBody>
      </p:sp>
    </p:spTree>
    <p:extLst>
      <p:ext uri="{BB962C8B-B14F-4D97-AF65-F5344CB8AC3E}">
        <p14:creationId xmlns:p14="http://schemas.microsoft.com/office/powerpoint/2010/main" val="223767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F4D16-A47D-894C-CF37-5EC60AE07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19142-D929-BB34-4FAA-681EC8981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 anchor="ctr"/>
          <a:lstStyle/>
          <a:p>
            <a:r>
              <a:rPr lang="en-US" sz="1600" b="1" dirty="0"/>
              <a:t>Development Updates</a:t>
            </a:r>
          </a:p>
        </p:txBody>
      </p:sp>
      <p:pic>
        <p:nvPicPr>
          <p:cNvPr id="4" name="Google Shape;125;p25">
            <a:extLst>
              <a:ext uri="{FF2B5EF4-FFF2-40B4-BE49-F238E27FC236}">
                <a16:creationId xmlns:a16="http://schemas.microsoft.com/office/drawing/2014/main" id="{510A3A37-C5E7-7B68-055D-3A2113E17E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25">
            <a:extLst>
              <a:ext uri="{FF2B5EF4-FFF2-40B4-BE49-F238E27FC236}">
                <a16:creationId xmlns:a16="http://schemas.microsoft.com/office/drawing/2014/main" id="{35AEA6C9-BF3B-E49D-4ACA-8094B44001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24">
            <a:extLst>
              <a:ext uri="{FF2B5EF4-FFF2-40B4-BE49-F238E27FC236}">
                <a16:creationId xmlns:a16="http://schemas.microsoft.com/office/drawing/2014/main" id="{6573A7F2-6CC1-B33E-86E7-B2C6E6087F2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EEC8E5F-8E1E-A16F-806C-D19934CE0AB7}"/>
              </a:ext>
            </a:extLst>
          </p:cNvPr>
          <p:cNvSpPr txBox="1"/>
          <p:nvPr/>
        </p:nvSpPr>
        <p:spPr>
          <a:xfrm>
            <a:off x="207170" y="3845431"/>
            <a:ext cx="8644932" cy="889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Currently the dashboard is still static in regard to the data coming in.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Hard stop on </a:t>
            </a:r>
            <a:r>
              <a:rPr lang="en-US" sz="1200" dirty="0" err="1"/>
              <a:t>OpenEvolve</a:t>
            </a:r>
            <a:r>
              <a:rPr lang="en-US" sz="1200" dirty="0"/>
              <a:t>-UCT output.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Chat bot is working for initial program/evaluator code generation but still has some bugs that we are fixing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82697B-E10A-44CD-9AB5-2FFFC78C96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769" y="561329"/>
            <a:ext cx="6836461" cy="32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324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DDE4A-1F51-5291-CE03-5454DA9E3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8C5B3-4A44-3FCF-5FA1-05ACF2DE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 anchor="ctr"/>
          <a:lstStyle/>
          <a:p>
            <a:r>
              <a:rPr lang="en-US" sz="1600" b="1" dirty="0"/>
              <a:t>Current Focus and Needs</a:t>
            </a:r>
          </a:p>
        </p:txBody>
      </p:sp>
      <p:pic>
        <p:nvPicPr>
          <p:cNvPr id="4" name="Google Shape;125;p25">
            <a:extLst>
              <a:ext uri="{FF2B5EF4-FFF2-40B4-BE49-F238E27FC236}">
                <a16:creationId xmlns:a16="http://schemas.microsoft.com/office/drawing/2014/main" id="{5EAB4507-0303-6F98-E9E5-0479D756B03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25">
            <a:extLst>
              <a:ext uri="{FF2B5EF4-FFF2-40B4-BE49-F238E27FC236}">
                <a16:creationId xmlns:a16="http://schemas.microsoft.com/office/drawing/2014/main" id="{BEED7DD7-CF4D-1F2C-1266-68CC43B9427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24">
            <a:extLst>
              <a:ext uri="{FF2B5EF4-FFF2-40B4-BE49-F238E27FC236}">
                <a16:creationId xmlns:a16="http://schemas.microsoft.com/office/drawing/2014/main" id="{CF38F5BF-9773-15E7-D75C-22EC816914F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D9DF87E-2634-CF2E-2B88-61E6FE18851A}"/>
              </a:ext>
            </a:extLst>
          </p:cNvPr>
          <p:cNvSpPr txBox="1"/>
          <p:nvPr/>
        </p:nvSpPr>
        <p:spPr>
          <a:xfrm>
            <a:off x="249534" y="746967"/>
            <a:ext cx="8644932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At the moment, we understand how we pull data from </a:t>
            </a:r>
            <a:r>
              <a:rPr lang="en-US" dirty="0" err="1"/>
              <a:t>OpenEvolve</a:t>
            </a:r>
            <a:r>
              <a:rPr lang="en-US" dirty="0"/>
              <a:t> and give real time updates to our processes. But I am still trying to figure out how to implement UCTP into </a:t>
            </a:r>
            <a:r>
              <a:rPr lang="en-US" dirty="0" err="1"/>
              <a:t>OpenEvolve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Restructuring needed on how the data is being pulled through </a:t>
            </a:r>
            <a:r>
              <a:rPr lang="en-US" dirty="0" err="1"/>
              <a:t>duckDB</a:t>
            </a:r>
            <a:r>
              <a:rPr lang="en-US" dirty="0"/>
              <a:t> and parquet formats as opposed to JSON.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Current GitHub sent is creating dataset generation.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Is the processor inside that GitHub as well? I am interested in the processor so I can try to implement it into </a:t>
            </a:r>
            <a:r>
              <a:rPr lang="en-US" dirty="0" err="1"/>
              <a:t>OpenEvolve</a:t>
            </a:r>
            <a:r>
              <a:rPr lang="en-US" dirty="0"/>
              <a:t> architecture and see how well I can reproduce/create my own processes with </a:t>
            </a:r>
            <a:r>
              <a:rPr lang="en-US" dirty="0" err="1"/>
              <a:t>OpenEvolve</a:t>
            </a:r>
            <a:r>
              <a:rPr lang="en-US" dirty="0"/>
              <a:t>. (This continues analytics console development since it is at a </a:t>
            </a:r>
            <a:r>
              <a:rPr lang="en-US" dirty="0" err="1"/>
              <a:t>hardstuck</a:t>
            </a:r>
            <a:r>
              <a:rPr lang="en-US" dirty="0"/>
              <a:t> when it comes to data being pulled in)</a:t>
            </a:r>
          </a:p>
        </p:txBody>
      </p:sp>
    </p:spTree>
    <p:extLst>
      <p:ext uri="{BB962C8B-B14F-4D97-AF65-F5344CB8AC3E}">
        <p14:creationId xmlns:p14="http://schemas.microsoft.com/office/powerpoint/2010/main" val="1724076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Questions and Discussions</a:t>
            </a:r>
            <a:endParaRPr dirty="0"/>
          </a:p>
        </p:txBody>
      </p:sp>
      <p:sp>
        <p:nvSpPr>
          <p:cNvPr id="225" name="Google Shape;225;p35"/>
          <p:cNvSpPr txBox="1">
            <a:spLocks noGrp="1"/>
          </p:cNvSpPr>
          <p:nvPr>
            <p:ph type="body" idx="1"/>
          </p:nvPr>
        </p:nvSpPr>
        <p:spPr>
          <a:xfrm>
            <a:off x="207169" y="664370"/>
            <a:ext cx="8743950" cy="393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 sz="1400" dirty="0"/>
              <a:t>Open discussions</a:t>
            </a:r>
          </a:p>
        </p:txBody>
      </p:sp>
      <p:pic>
        <p:nvPicPr>
          <p:cNvPr id="226" name="Google Shape;226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UCF_Kapat_2007Jan_Project">
  <a:themeElements>
    <a:clrScheme name="">
      <a:dk1>
        <a:srgbClr val="000000"/>
      </a:dk1>
      <a:lt1>
        <a:srgbClr val="EAEAEA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3F3F3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1821</TotalTime>
  <Words>468</Words>
  <Application>Microsoft Office PowerPoint</Application>
  <PresentationFormat>On-screen Show (16:9)</PresentationFormat>
  <Paragraphs>43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Simple Light</vt:lpstr>
      <vt:lpstr>1_UCF_Kapat_2007Jan_Project</vt:lpstr>
      <vt:lpstr>L16 – Uncorrelated Track Processing</vt:lpstr>
      <vt:lpstr>Table of Contents</vt:lpstr>
      <vt:lpstr>Project Maturation</vt:lpstr>
      <vt:lpstr>CI/CD Pipeline Development</vt:lpstr>
      <vt:lpstr>CI/CD Pipeline Development</vt:lpstr>
      <vt:lpstr>Development Updates</vt:lpstr>
      <vt:lpstr>Current Focus and Needs</vt:lpstr>
      <vt:lpstr>Questions and Discussions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 g</dc:creator>
  <cp:lastModifiedBy>Kyle Galang</cp:lastModifiedBy>
  <cp:revision>23</cp:revision>
  <dcterms:modified xsi:type="dcterms:W3CDTF">2025-12-10T20:05:06Z</dcterms:modified>
</cp:coreProperties>
</file>