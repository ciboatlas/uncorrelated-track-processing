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8" r:id="rId1"/>
    <p:sldMasterId id="2147483669" r:id="rId2"/>
  </p:sldMasterIdLst>
  <p:notesMasterIdLst>
    <p:notesMasterId r:id="rId22"/>
  </p:notesMasterIdLst>
  <p:sldIdLst>
    <p:sldId id="256" r:id="rId3"/>
    <p:sldId id="257" r:id="rId4"/>
    <p:sldId id="448" r:id="rId5"/>
    <p:sldId id="1042653389" r:id="rId6"/>
    <p:sldId id="1042653395" r:id="rId7"/>
    <p:sldId id="1042653396" r:id="rId8"/>
    <p:sldId id="1042653392" r:id="rId9"/>
    <p:sldId id="1042653397" r:id="rId10"/>
    <p:sldId id="1042653393" r:id="rId11"/>
    <p:sldId id="1042653394" r:id="rId12"/>
    <p:sldId id="1042653398" r:id="rId13"/>
    <p:sldId id="1042653399" r:id="rId14"/>
    <p:sldId id="1042653400" r:id="rId15"/>
    <p:sldId id="1042653401" r:id="rId16"/>
    <p:sldId id="1042653402" r:id="rId17"/>
    <p:sldId id="1042653404" r:id="rId18"/>
    <p:sldId id="1042653405" r:id="rId19"/>
    <p:sldId id="1042653406" r:id="rId20"/>
    <p:sldId id="268"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71F3D735-CA63-4AEC-A0B3-ED3692785BA0}">
          <p14:sldIdLst>
            <p14:sldId id="256"/>
            <p14:sldId id="257"/>
            <p14:sldId id="448"/>
            <p14:sldId id="1042653389"/>
            <p14:sldId id="1042653395"/>
            <p14:sldId id="1042653396"/>
            <p14:sldId id="1042653392"/>
            <p14:sldId id="1042653397"/>
            <p14:sldId id="1042653393"/>
            <p14:sldId id="1042653394"/>
            <p14:sldId id="1042653398"/>
            <p14:sldId id="1042653399"/>
            <p14:sldId id="1042653400"/>
            <p14:sldId id="1042653401"/>
            <p14:sldId id="1042653402"/>
            <p14:sldId id="1042653404"/>
            <p14:sldId id="1042653405"/>
            <p14:sldId id="1042653406"/>
            <p14:sldId id="268"/>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DE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566" autoAdjust="0"/>
  </p:normalViewPr>
  <p:slideViewPr>
    <p:cSldViewPr snapToGrid="0">
      <p:cViewPr varScale="1">
        <p:scale>
          <a:sx n="136" d="100"/>
          <a:sy n="136" d="100"/>
        </p:scale>
        <p:origin x="89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oogle.com/document/d/1qOn2pm9OjXSjxoBUyUC-49Dlh3nKoDHPKNnFptZTepg/edit?tab=t.ul8jz3jiot2h"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9b8301f814_2_50:notes"/>
          <p:cNvSpPr>
            <a:spLocks noGrp="1" noRot="1" noChangeAspect="1"/>
          </p:cNvSpPr>
          <p:nvPr>
            <p:ph type="sldImg" idx="2"/>
          </p:nvPr>
        </p:nvSpPr>
        <p:spPr>
          <a:xfrm>
            <a:off x="382588" y="687388"/>
            <a:ext cx="6092825" cy="34274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2" name="Google Shape;102;g39b8301f814_2_50:notes"/>
          <p:cNvSpPr txBox="1">
            <a:spLocks noGrp="1"/>
          </p:cNvSpPr>
          <p:nvPr>
            <p:ph type="body" idx="1"/>
          </p:nvPr>
        </p:nvSpPr>
        <p:spPr>
          <a:xfrm>
            <a:off x="914401" y="4343402"/>
            <a:ext cx="5029200" cy="4114800"/>
          </a:xfrm>
          <a:prstGeom prst="rect">
            <a:avLst/>
          </a:prstGeom>
          <a:noFill/>
          <a:ln>
            <a:noFill/>
          </a:ln>
        </p:spPr>
        <p:txBody>
          <a:bodyPr spcFirstLastPara="1" wrap="square" lIns="93275" tIns="46625" rIns="93275" bIns="46625" anchor="t" anchorCtr="0">
            <a:noAutofit/>
          </a:bodyPr>
          <a:lstStyle/>
          <a:p>
            <a:pPr marL="0" lvl="0" indent="0" algn="l" rtl="0">
              <a:lnSpc>
                <a:spcPct val="100000"/>
              </a:lnSpc>
              <a:spcBef>
                <a:spcPts val="0"/>
              </a:spcBef>
              <a:spcAft>
                <a:spcPts val="0"/>
              </a:spcAft>
              <a:buSzPts val="1100"/>
              <a:buNone/>
            </a:pPr>
            <a:r>
              <a:rPr lang="en"/>
              <a:t> - FILL IN / REMOVE ALL 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9b8301f814_2_60:notes"/>
          <p:cNvSpPr>
            <a:spLocks noGrp="1" noRot="1" noChangeAspect="1"/>
          </p:cNvSpPr>
          <p:nvPr>
            <p:ph type="sldImg" idx="2"/>
          </p:nvPr>
        </p:nvSpPr>
        <p:spPr>
          <a:xfrm>
            <a:off x="382588" y="687388"/>
            <a:ext cx="6092825" cy="34274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2" name="Google Shape;112;g39b8301f814_2_60:notes"/>
          <p:cNvSpPr txBox="1">
            <a:spLocks noGrp="1"/>
          </p:cNvSpPr>
          <p:nvPr>
            <p:ph type="body" idx="1"/>
          </p:nvPr>
        </p:nvSpPr>
        <p:spPr>
          <a:xfrm>
            <a:off x="914401" y="4343402"/>
            <a:ext cx="5029200" cy="4114800"/>
          </a:xfrm>
          <a:prstGeom prst="rect">
            <a:avLst/>
          </a:prstGeom>
          <a:noFill/>
          <a:ln>
            <a:noFill/>
          </a:ln>
        </p:spPr>
        <p:txBody>
          <a:bodyPr spcFirstLastPara="1" wrap="square" lIns="93275" tIns="46625" rIns="93275" bIns="4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296BA-15CB-043E-048F-3D114C472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FF296C-20A9-3020-3FB4-948D8F24F11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96F8E2E-0BE2-3089-5972-7219449013F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1382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1E718-068D-86E4-51C1-521A653D7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C73EDE-A6D7-89AB-71A6-DF7EF6DE28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442EC1-2A1C-DAC7-91DC-CBAECB7C8A8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2397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9B879-7A9A-2A09-B56A-DC0A4C1F8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69982-C41B-39B7-D2CA-21763694C2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4DB9EE5-2A24-ECCA-9114-26D432505FFE}"/>
              </a:ext>
            </a:extLst>
          </p:cNvPr>
          <p:cNvSpPr>
            <a:spLocks noGrp="1"/>
          </p:cNvSpPr>
          <p:nvPr>
            <p:ph type="body" idx="1"/>
          </p:nvPr>
        </p:nvSpPr>
        <p:spPr/>
        <p:txBody>
          <a:bodyPr/>
          <a:lstStyle/>
          <a:p>
            <a:r>
              <a:rPr lang="en-US" dirty="0"/>
              <a:t>Sliding window, where we keep iterating the left pointer by skipping negative evaluations and increasing the right pointer to do the logic. Brute force which is the worst way is doing in to n^3 but we know the optimal solution through data structures and algorithms is O(n)</a:t>
            </a:r>
          </a:p>
        </p:txBody>
      </p:sp>
    </p:spTree>
    <p:extLst>
      <p:ext uri="{BB962C8B-B14F-4D97-AF65-F5344CB8AC3E}">
        <p14:creationId xmlns:p14="http://schemas.microsoft.com/office/powerpoint/2010/main" val="417467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6D000-D4F6-EE33-2979-CA57DA77C5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D5652-EF3B-31D5-D291-12186315478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3CB3389-3008-C8D3-EF44-A25566F8F676}"/>
              </a:ext>
            </a:extLst>
          </p:cNvPr>
          <p:cNvSpPr>
            <a:spLocks noGrp="1"/>
          </p:cNvSpPr>
          <p:nvPr>
            <p:ph type="body" idx="1"/>
          </p:nvPr>
        </p:nvSpPr>
        <p:spPr/>
        <p:txBody>
          <a:bodyPr/>
          <a:lstStyle/>
          <a:p>
            <a:r>
              <a:rPr lang="en-US" dirty="0" err="1"/>
              <a:t>OpenEvolve</a:t>
            </a:r>
            <a:r>
              <a:rPr lang="en-US" dirty="0"/>
              <a:t> just needs through inputs which is the initial code for the O(n^3) solution and an evaluator for speed and correctness. While also having a config to do the island based evolutionary process. Which in this talk they said how they used relatively less complex models like </a:t>
            </a:r>
            <a:r>
              <a:rPr lang="en-US" dirty="0" err="1"/>
              <a:t>gemini</a:t>
            </a:r>
            <a:r>
              <a:rPr lang="en-US" dirty="0"/>
              <a:t> flash and other open models and saw they can do 1.3-1.6x over the current benchmarks using </a:t>
            </a:r>
            <a:r>
              <a:rPr lang="en-US" dirty="0" err="1"/>
              <a:t>openevolve</a:t>
            </a:r>
            <a:endParaRPr lang="en-US" dirty="0"/>
          </a:p>
        </p:txBody>
      </p:sp>
    </p:spTree>
    <p:extLst>
      <p:ext uri="{BB962C8B-B14F-4D97-AF65-F5344CB8AC3E}">
        <p14:creationId xmlns:p14="http://schemas.microsoft.com/office/powerpoint/2010/main" val="3689520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8B01-DEA6-97F7-400C-9E9534284D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4F397-B53B-3739-2E52-8D2091A4FEF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74AACE-30C3-D9FA-BFE0-E29A16C6AE15}"/>
              </a:ext>
            </a:extLst>
          </p:cNvPr>
          <p:cNvSpPr>
            <a:spLocks noGrp="1"/>
          </p:cNvSpPr>
          <p:nvPr>
            <p:ph type="body" idx="1"/>
          </p:nvPr>
        </p:nvSpPr>
        <p:spPr/>
        <p:txBody>
          <a:bodyPr/>
          <a:lstStyle/>
          <a:p>
            <a:r>
              <a:rPr lang="en-US" dirty="0"/>
              <a:t>This showcases how we have multiple islands representing our populations. Where every n generations, we do migrations where we take the best performing programs from one island and move them to another. This allows us to have fast convergence times and also allowing us to maintain diversity to allow the best solutions to spread through the migration process to prevent premature convergences and also help improve exploration and parallelism.</a:t>
            </a:r>
          </a:p>
        </p:txBody>
      </p:sp>
    </p:spTree>
    <p:extLst>
      <p:ext uri="{BB962C8B-B14F-4D97-AF65-F5344CB8AC3E}">
        <p14:creationId xmlns:p14="http://schemas.microsoft.com/office/powerpoint/2010/main" val="4176985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26662-FA45-A46C-1A0B-F690664F6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3238C5-FDD7-C630-53F9-B4FF3B9A3F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2AE536-6728-3504-503A-6511739E5394}"/>
              </a:ext>
            </a:extLst>
          </p:cNvPr>
          <p:cNvSpPr>
            <a:spLocks noGrp="1"/>
          </p:cNvSpPr>
          <p:nvPr>
            <p:ph type="body" idx="1"/>
          </p:nvPr>
        </p:nvSpPr>
        <p:spPr/>
        <p:txBody>
          <a:bodyPr/>
          <a:lstStyle/>
          <a:p>
            <a:r>
              <a:rPr lang="en-US" dirty="0"/>
              <a:t>This diagram shows how in each island they have their own evolutionary loops which is what we know from the current outputs of </a:t>
            </a:r>
            <a:r>
              <a:rPr lang="en-US" dirty="0" err="1"/>
              <a:t>openevolve</a:t>
            </a:r>
            <a:r>
              <a:rPr lang="en-US" dirty="0"/>
              <a:t> in the directory. It takes the best program, mutates it, generates it, and then replaces the worst.</a:t>
            </a:r>
          </a:p>
        </p:txBody>
      </p:sp>
    </p:spTree>
    <p:extLst>
      <p:ext uri="{BB962C8B-B14F-4D97-AF65-F5344CB8AC3E}">
        <p14:creationId xmlns:p14="http://schemas.microsoft.com/office/powerpoint/2010/main" val="6371196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D3B89-B031-F7F4-CCE8-44C69FE7F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5D304-8780-17F4-9DD6-A3EC9318EE8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6AF5341-244C-68B4-E1B3-8BD12038600C}"/>
              </a:ext>
            </a:extLst>
          </p:cNvPr>
          <p:cNvSpPr>
            <a:spLocks noGrp="1"/>
          </p:cNvSpPr>
          <p:nvPr>
            <p:ph type="body" idx="1"/>
          </p:nvPr>
        </p:nvSpPr>
        <p:spPr/>
        <p:txBody>
          <a:bodyPr/>
          <a:lstStyle/>
          <a:p>
            <a:r>
              <a:rPr lang="en-US" dirty="0"/>
              <a:t>How they did their prompt here is just to </a:t>
            </a:r>
            <a:r>
              <a:rPr lang="en-US" dirty="0" err="1"/>
              <a:t>showecase</a:t>
            </a:r>
            <a:r>
              <a:rPr lang="en-US" dirty="0"/>
              <a:t> that same prompt they asked which is to improve the solution runtime is given to all the programs throughout the process.</a:t>
            </a:r>
          </a:p>
        </p:txBody>
      </p:sp>
    </p:spTree>
    <p:extLst>
      <p:ext uri="{BB962C8B-B14F-4D97-AF65-F5344CB8AC3E}">
        <p14:creationId xmlns:p14="http://schemas.microsoft.com/office/powerpoint/2010/main" val="26814348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77471-A0B1-F5E9-5881-E2F7DCFAC5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A1082-A460-D148-FE6C-6BDB2D3EBAE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6C5BA7-5D6B-0C43-9174-8340C764479E}"/>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So when doing research on how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architecture works, one thing I’m trying to figure out is what is it that we are trying to implement into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We’ve talked about the usage of benchmarking with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and so how does UCTP correlated with it?</a:t>
            </a:r>
          </a:p>
          <a:p>
            <a:r>
              <a:rPr lang="en-US" sz="1100" b="0" i="0" u="none" strike="noStrike" cap="none" dirty="0">
                <a:solidFill>
                  <a:srgbClr val="000000"/>
                </a:solidFill>
                <a:effectLst/>
                <a:latin typeface="Arial"/>
                <a:ea typeface="Arial"/>
                <a:cs typeface="Arial"/>
                <a:sym typeface="Arial"/>
              </a:rPr>
              <a:t>See about integrating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logic using the already engineered metrics as a point of comparison. In other words, use the metrics from the Evaluation pipeline to inform possible enhancements to the providers’ algorithms via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This would be a nice addition to the scope of the framework but is not necessary should time not permit; do this last. See the </a:t>
            </a:r>
            <a:r>
              <a:rPr lang="en-US" sz="1100" b="0" i="0" u="sng" strike="noStrike" cap="none" dirty="0" err="1">
                <a:solidFill>
                  <a:srgbClr val="000000"/>
                </a:solidFill>
                <a:effectLst/>
                <a:latin typeface="Arial"/>
                <a:ea typeface="Arial"/>
                <a:cs typeface="Arial"/>
                <a:sym typeface="Arial"/>
                <a:hlinkClick r:id="rId3"/>
              </a:rPr>
              <a:t>OpenEvolve</a:t>
            </a:r>
            <a:r>
              <a:rPr lang="en-US" sz="1100" b="0" i="0" u="sng" strike="noStrike" cap="none" dirty="0">
                <a:solidFill>
                  <a:srgbClr val="000000"/>
                </a:solidFill>
                <a:effectLst/>
                <a:latin typeface="Arial"/>
                <a:ea typeface="Arial"/>
                <a:cs typeface="Arial"/>
                <a:sym typeface="Arial"/>
                <a:hlinkClick r:id="rId3"/>
              </a:rPr>
              <a:t> Proposal</a:t>
            </a:r>
            <a:r>
              <a:rPr lang="en-US" sz="1100" b="0" i="0" u="none" strike="noStrike" cap="none" dirty="0">
                <a:solidFill>
                  <a:srgbClr val="000000"/>
                </a:solidFill>
                <a:effectLst/>
                <a:latin typeface="Arial"/>
                <a:ea typeface="Arial"/>
                <a:cs typeface="Arial"/>
                <a:sym typeface="Arial"/>
              </a:rPr>
              <a:t> for more details.</a:t>
            </a:r>
          </a:p>
          <a:p>
            <a:r>
              <a:rPr lang="en-US" sz="1100" b="0" i="0" u="none" strike="noStrike" cap="none" dirty="0">
                <a:solidFill>
                  <a:srgbClr val="000000"/>
                </a:solidFill>
                <a:effectLst/>
                <a:latin typeface="Arial"/>
                <a:cs typeface="Arial"/>
                <a:sym typeface="Arial"/>
              </a:rPr>
              <a:t>How does the evaluation pipeline inform possible enhancements to the providers’ algorithm?</a:t>
            </a:r>
          </a:p>
          <a:p>
            <a:endParaRPr lang="en-US" dirty="0"/>
          </a:p>
        </p:txBody>
      </p:sp>
    </p:spTree>
    <p:extLst>
      <p:ext uri="{BB962C8B-B14F-4D97-AF65-F5344CB8AC3E}">
        <p14:creationId xmlns:p14="http://schemas.microsoft.com/office/powerpoint/2010/main" val="385194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EDFF5-2672-2695-3D57-1D6A5B827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56580-C5D0-0364-7CC4-97215C66EAF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4608B8-38A9-E7E7-0D21-C92E089318EF}"/>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An evaluation report will be generated and saved as a PDF file at the end of the evaluation algorithm. It contains tables that show Associated Orbits, Binary Metrics, and State results. It also contains graphs showing the residuals of both the Candidate and Reference Orbits. At the top of the PDF, there is the Dataset code so the UCTP can tell exactly what kind of data was used in their testing. The goal of this PDF is to give the UCTP a way to tell how their processor performed at a glance.</a:t>
            </a:r>
            <a:endParaRPr lang="en-US" b="0" dirty="0">
              <a:effectLst/>
            </a:endParaRPr>
          </a:p>
          <a:p>
            <a:r>
              <a:rPr lang="en-US" sz="1100" b="0" i="0" u="none" strike="noStrike" cap="none" dirty="0">
                <a:solidFill>
                  <a:srgbClr val="000000"/>
                </a:solidFill>
                <a:effectLst/>
                <a:latin typeface="Arial"/>
                <a:ea typeface="Arial"/>
                <a:cs typeface="Arial"/>
                <a:sym typeface="Arial"/>
              </a:rPr>
              <a:t>The report needs to be expanded depending on the implementation and integration of aspects above. For instance, should more metrics be added, or different stochastic sub-metrics be used, the report should reflect this. A UI/UX overhaul, may also be necessary for ease of reading. Logic to condense all of the metrics into one quality score ‘Q-score’ should be looked into. A single value score will allow for easier comparison between UCTPs, motivating possible algorithm feedback and advancement via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a:t>
            </a:r>
            <a:br>
              <a:rPr lang="en-US" dirty="0"/>
            </a:br>
            <a:endParaRPr lang="en-US" dirty="0"/>
          </a:p>
        </p:txBody>
      </p:sp>
    </p:spTree>
    <p:extLst>
      <p:ext uri="{BB962C8B-B14F-4D97-AF65-F5344CB8AC3E}">
        <p14:creationId xmlns:p14="http://schemas.microsoft.com/office/powerpoint/2010/main" val="2236014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2698-DF56-D9E9-09CB-DDD5ECD56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59D60-56F7-FD7D-992C-EA3D82BA1F7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76923C-0397-E94E-1D66-37BD769CF200}"/>
              </a:ext>
            </a:extLst>
          </p:cNvPr>
          <p:cNvSpPr>
            <a:spLocks noGrp="1"/>
          </p:cNvSpPr>
          <p:nvPr>
            <p:ph type="body" idx="1"/>
          </p:nvPr>
        </p:nvSpPr>
        <p:spPr/>
        <p:txBody>
          <a:bodyPr/>
          <a:lstStyle/>
          <a:p>
            <a:pPr rtl="0"/>
            <a:br>
              <a:rPr lang="en-US" dirty="0"/>
            </a:br>
            <a:endParaRPr lang="en-US" dirty="0"/>
          </a:p>
        </p:txBody>
      </p:sp>
    </p:spTree>
    <p:extLst>
      <p:ext uri="{BB962C8B-B14F-4D97-AF65-F5344CB8AC3E}">
        <p14:creationId xmlns:p14="http://schemas.microsoft.com/office/powerpoint/2010/main" val="3028534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1F56-B9C0-C4C0-7C6C-5EE20A73E5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BB8E8A-298D-A8C4-9211-101D06CCC3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D0C73C-55F3-BC90-5BD2-5BCEF6FD085B}"/>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State metrics refer to comparing the Candidate Orbit to the Reference Orbit (either as state vectors or TLEs) to determine the accuracy of the orbit estimation.</a:t>
            </a:r>
            <a:endParaRPr lang="en-US" dirty="0"/>
          </a:p>
        </p:txBody>
      </p:sp>
    </p:spTree>
    <p:extLst>
      <p:ext uri="{BB962C8B-B14F-4D97-AF65-F5344CB8AC3E}">
        <p14:creationId xmlns:p14="http://schemas.microsoft.com/office/powerpoint/2010/main" val="1853239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89583-AADB-7668-5D91-CCE97AEF8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238C07-8888-4D8D-9ED4-617476D0B7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B77C51A-C782-FE9E-4058-2EEF39555CB6}"/>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Residual Metrics determine the unit-sphere projected great circle residuals between the actual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and the estimated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determined by propagating the Candidate Orbit to the epoch of each observation or </a:t>
            </a:r>
            <a:r>
              <a:rPr lang="en-US" sz="1100" b="0" i="0" u="none" strike="noStrike" cap="none" dirty="0" err="1">
                <a:solidFill>
                  <a:srgbClr val="000000"/>
                </a:solidFill>
                <a:effectLst/>
                <a:latin typeface="Arial"/>
                <a:ea typeface="Arial"/>
                <a:cs typeface="Arial"/>
                <a:sym typeface="Arial"/>
              </a:rPr>
              <a:t>trackTLE</a:t>
            </a:r>
            <a:r>
              <a:rPr lang="en-US" sz="1100" b="0" i="0" u="none" strike="noStrike" cap="none" dirty="0">
                <a:solidFill>
                  <a:srgbClr val="000000"/>
                </a:solidFill>
                <a:effectLst/>
                <a:latin typeface="Arial"/>
                <a:ea typeface="Arial"/>
                <a:cs typeface="Arial"/>
                <a:sym typeface="Arial"/>
              </a:rPr>
              <a:t>. Use of this function is split into two categories:</a:t>
            </a:r>
            <a:endParaRPr lang="en-US" b="0" dirty="0">
              <a:effectLst/>
            </a:endParaRPr>
          </a:p>
          <a:p>
            <a:pPr rtl="0" fontAlgn="base"/>
            <a:r>
              <a:rPr lang="en-US" sz="1100" b="0" i="0" u="none" strike="noStrike" cap="none" dirty="0">
                <a:solidFill>
                  <a:srgbClr val="000000"/>
                </a:solidFill>
                <a:effectLst/>
                <a:latin typeface="Arial"/>
                <a:ea typeface="Arial"/>
                <a:cs typeface="Arial"/>
                <a:sym typeface="Arial"/>
              </a:rPr>
              <a:t>Comparison of the Reference Orbit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with the Candidate Orbit. This gives a measure of how accurate a Candidate Orbit is to the truth.</a:t>
            </a:r>
          </a:p>
          <a:p>
            <a:pPr rtl="0" fontAlgn="base"/>
            <a:r>
              <a:rPr lang="en-US" sz="1100" b="0" i="0" u="none" strike="noStrike" cap="none" dirty="0">
                <a:solidFill>
                  <a:srgbClr val="000000"/>
                </a:solidFill>
                <a:effectLst/>
                <a:latin typeface="Arial"/>
                <a:ea typeface="Arial"/>
                <a:cs typeface="Arial"/>
                <a:sym typeface="Arial"/>
              </a:rPr>
              <a:t>Comparison of the Candidate Orbit observations or </a:t>
            </a:r>
            <a:r>
              <a:rPr lang="en-US" sz="1100" b="0" i="0" u="none" strike="noStrike" cap="none" dirty="0" err="1">
                <a:solidFill>
                  <a:srgbClr val="000000"/>
                </a:solidFill>
                <a:effectLst/>
                <a:latin typeface="Arial"/>
                <a:ea typeface="Arial"/>
                <a:cs typeface="Arial"/>
                <a:sym typeface="Arial"/>
              </a:rPr>
              <a:t>trackTLEs</a:t>
            </a:r>
            <a:r>
              <a:rPr lang="en-US" sz="1100" b="0" i="0" u="none" strike="noStrike" cap="none" dirty="0">
                <a:solidFill>
                  <a:srgbClr val="000000"/>
                </a:solidFill>
                <a:effectLst/>
                <a:latin typeface="Arial"/>
                <a:ea typeface="Arial"/>
                <a:cs typeface="Arial"/>
                <a:sym typeface="Arial"/>
              </a:rPr>
              <a:t> with the Candidate Orbit. This gives a measure of how precise a Candidate Orbit is to its own correlation.</a:t>
            </a:r>
          </a:p>
        </p:txBody>
      </p:sp>
    </p:spTree>
    <p:extLst>
      <p:ext uri="{BB962C8B-B14F-4D97-AF65-F5344CB8AC3E}">
        <p14:creationId xmlns:p14="http://schemas.microsoft.com/office/powerpoint/2010/main" val="899131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73CEB-9FE5-423D-7659-5ADEE2041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68254-27F1-340A-F983-49537527FF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2FC03F8-4F34-9EBD-7BAF-85937E7222CB}"/>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The </a:t>
            </a:r>
            <a:r>
              <a:rPr lang="en-US" sz="1100" b="0" i="0" u="none" strike="noStrike" cap="none" dirty="0" err="1">
                <a:solidFill>
                  <a:srgbClr val="000000"/>
                </a:solidFill>
                <a:effectLst/>
                <a:latin typeface="Arial"/>
                <a:ea typeface="Arial"/>
                <a:cs typeface="Arial"/>
                <a:sym typeface="Arial"/>
              </a:rPr>
              <a:t>binaryMetrics</a:t>
            </a:r>
            <a:r>
              <a:rPr lang="en-US" sz="1100" b="0" i="0" u="none" strike="noStrike" cap="none" dirty="0">
                <a:solidFill>
                  <a:srgbClr val="000000"/>
                </a:solidFill>
                <a:effectLst/>
                <a:latin typeface="Arial"/>
                <a:ea typeface="Arial"/>
                <a:cs typeface="Arial"/>
                <a:sym typeface="Arial"/>
              </a:rPr>
              <a:t> function evaluates the binary classification performance of a UCTP. It calculates several standard binary classification metrics, assuming a reference (ground truth) dataset and a predicted association output. </a:t>
            </a:r>
            <a:br>
              <a:rPr lang="en-US" dirty="0"/>
            </a:br>
            <a:endParaRPr lang="en-US" dirty="0"/>
          </a:p>
        </p:txBody>
      </p:sp>
    </p:spTree>
    <p:extLst>
      <p:ext uri="{BB962C8B-B14F-4D97-AF65-F5344CB8AC3E}">
        <p14:creationId xmlns:p14="http://schemas.microsoft.com/office/powerpoint/2010/main" val="853752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6677E-A7A7-CE17-C5F6-3E18FB2F0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41042-BFEA-362E-BB01-BFC50855592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DF6B45-30DD-EDA1-951F-B704F311D50E}"/>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Validate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framework for UCT processing by integrating it with SDA benchmarks, automating algorithm discovery and evaluation, and delivering a reproducible pipeline, custom metric, and technical report.</a:t>
            </a:r>
            <a:br>
              <a:rPr lang="en-US" b="1" dirty="0"/>
            </a:br>
            <a:endParaRPr lang="en-US" b="1" dirty="0"/>
          </a:p>
        </p:txBody>
      </p:sp>
    </p:spTree>
    <p:extLst>
      <p:ext uri="{BB962C8B-B14F-4D97-AF65-F5344CB8AC3E}">
        <p14:creationId xmlns:p14="http://schemas.microsoft.com/office/powerpoint/2010/main" val="545875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9FC8-B20A-8541-2410-4F5C072F0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E2E53-1434-2384-0F80-0F99B54F7C3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726EA6A-F250-7FC2-2548-79DB3B5529AE}"/>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Validate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framework for UCT processing by integrating it with SDA benchmarks, automating algorithm discovery and evaluation, and delivering a reproducible pipeline, custom metric, and technical report.</a:t>
            </a:r>
            <a:br>
              <a:rPr lang="en-US" b="1" dirty="0"/>
            </a:br>
            <a:endParaRPr lang="en-US" b="1" dirty="0"/>
          </a:p>
        </p:txBody>
      </p:sp>
    </p:spTree>
    <p:extLst>
      <p:ext uri="{BB962C8B-B14F-4D97-AF65-F5344CB8AC3E}">
        <p14:creationId xmlns:p14="http://schemas.microsoft.com/office/powerpoint/2010/main" val="29008687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9E935-86EA-F2B9-762E-8B209E9E5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0AADB-2D42-2E83-2AC7-F1602198AB8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FF1227-51E7-57F1-92E3-F8ADB40690F9}"/>
              </a:ext>
            </a:extLst>
          </p:cNvPr>
          <p:cNvSpPr>
            <a:spLocks noGrp="1"/>
          </p:cNvSpPr>
          <p:nvPr>
            <p:ph type="body" idx="1"/>
          </p:nvPr>
        </p:nvSpPr>
        <p:spPr/>
        <p:txBody>
          <a:bodyPr/>
          <a:lstStyle/>
          <a:p>
            <a:pPr rtl="0"/>
            <a:r>
              <a:rPr lang="en-US" sz="1100" b="0" i="0" u="none" strike="noStrike" cap="none" dirty="0">
                <a:solidFill>
                  <a:srgbClr val="000000"/>
                </a:solidFill>
                <a:effectLst/>
                <a:latin typeface="Arial"/>
                <a:ea typeface="Arial"/>
                <a:cs typeface="Arial"/>
                <a:sym typeface="Arial"/>
              </a:rPr>
              <a:t>Validate the </a:t>
            </a:r>
            <a:r>
              <a:rPr lang="en-US" sz="1100" b="0" i="0" u="none" strike="noStrike" cap="none" dirty="0" err="1">
                <a:solidFill>
                  <a:srgbClr val="000000"/>
                </a:solidFill>
                <a:effectLst/>
                <a:latin typeface="Arial"/>
                <a:ea typeface="Arial"/>
                <a:cs typeface="Arial"/>
                <a:sym typeface="Arial"/>
              </a:rPr>
              <a:t>OpenEvolve</a:t>
            </a:r>
            <a:r>
              <a:rPr lang="en-US" sz="1100" b="0" i="0" u="none" strike="noStrike" cap="none" dirty="0">
                <a:solidFill>
                  <a:srgbClr val="000000"/>
                </a:solidFill>
                <a:effectLst/>
                <a:latin typeface="Arial"/>
                <a:ea typeface="Arial"/>
                <a:cs typeface="Arial"/>
                <a:sym typeface="Arial"/>
              </a:rPr>
              <a:t> framework for UCT processing by integrating it with SDA benchmarks, automating algorithm discovery and evaluation, and delivering a reproducible pipeline, custom metric, and technical report.</a:t>
            </a:r>
            <a:br>
              <a:rPr lang="en-US" b="1" dirty="0"/>
            </a:br>
            <a:endParaRPr lang="en-US" b="1" dirty="0"/>
          </a:p>
        </p:txBody>
      </p:sp>
    </p:spTree>
    <p:extLst>
      <p:ext uri="{BB962C8B-B14F-4D97-AF65-F5344CB8AC3E}">
        <p14:creationId xmlns:p14="http://schemas.microsoft.com/office/powerpoint/2010/main" val="2835919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9b8301f814_2_140:notes"/>
          <p:cNvSpPr>
            <a:spLocks noGrp="1" noRot="1" noChangeAspect="1"/>
          </p:cNvSpPr>
          <p:nvPr>
            <p:ph type="sldImg" idx="2"/>
          </p:nvPr>
        </p:nvSpPr>
        <p:spPr>
          <a:xfrm>
            <a:off x="382588" y="687388"/>
            <a:ext cx="6092825" cy="34274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22" name="Google Shape;222;g39b8301f814_2_140:notes"/>
          <p:cNvSpPr txBox="1">
            <a:spLocks noGrp="1"/>
          </p:cNvSpPr>
          <p:nvPr>
            <p:ph type="body" idx="1"/>
          </p:nvPr>
        </p:nvSpPr>
        <p:spPr>
          <a:xfrm>
            <a:off x="914401" y="4343402"/>
            <a:ext cx="5029200" cy="4114800"/>
          </a:xfrm>
          <a:prstGeom prst="rect">
            <a:avLst/>
          </a:prstGeom>
          <a:noFill/>
          <a:ln>
            <a:noFill/>
          </a:ln>
        </p:spPr>
        <p:txBody>
          <a:bodyPr spcFirstLastPara="1" wrap="square" lIns="93275" tIns="46625" rIns="93275" bIns="466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685800" y="1468377"/>
            <a:ext cx="7772400" cy="738182"/>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60" name="Google Shape;60;p14"/>
          <p:cNvSpPr txBox="1">
            <a:spLocks noGrp="1"/>
          </p:cNvSpPr>
          <p:nvPr>
            <p:ph type="subTitle" idx="1"/>
          </p:nvPr>
        </p:nvSpPr>
        <p:spPr>
          <a:xfrm>
            <a:off x="1371600" y="2330041"/>
            <a:ext cx="6400800" cy="1046425"/>
          </a:xfrm>
          <a:prstGeom prst="rect">
            <a:avLst/>
          </a:prstGeom>
          <a:noFill/>
          <a:ln>
            <a:noFill/>
          </a:ln>
        </p:spPr>
        <p:txBody>
          <a:bodyPr spcFirstLastPara="1" wrap="square" lIns="68575" tIns="34275" rIns="68575" bIns="34275" anchor="t" anchorCtr="0">
            <a:noAutofit/>
          </a:bodyPr>
          <a:lstStyle>
            <a:lvl1pPr marR="0" lvl="0" algn="ctr" rtl="0">
              <a:lnSpc>
                <a:spcPct val="100000"/>
              </a:lnSpc>
              <a:spcBef>
                <a:spcPts val="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1pPr>
            <a:lvl2pPr marR="0" lvl="1" algn="ctr" rtl="0">
              <a:lnSpc>
                <a:spcPct val="100000"/>
              </a:lnSpc>
              <a:spcBef>
                <a:spcPts val="3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2pPr>
            <a:lvl3pPr marR="0" lvl="2" algn="ctr" rtl="0">
              <a:lnSpc>
                <a:spcPct val="100000"/>
              </a:lnSpc>
              <a:spcBef>
                <a:spcPts val="3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3pPr>
            <a:lvl4pPr marR="0" lvl="3"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4pPr>
            <a:lvl5pPr marR="0" lvl="4"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5pPr>
            <a:lvl6pPr marR="0" lvl="5"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6pPr>
            <a:lvl7pPr marR="0" lvl="6"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7pPr>
            <a:lvl8pPr marR="0" lvl="7"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8pPr>
            <a:lvl9pPr marR="0" lvl="8" algn="ctr" rtl="0">
              <a:lnSpc>
                <a:spcPct val="100000"/>
              </a:lnSpc>
              <a:spcBef>
                <a:spcPts val="200"/>
              </a:spcBef>
              <a:spcAft>
                <a:spcPts val="0"/>
              </a:spcAft>
              <a:buClr>
                <a:schemeClr val="dk1"/>
              </a:buClr>
              <a:buSzPts val="1100"/>
              <a:buFont typeface="Arial"/>
              <a:buNone/>
              <a:defRPr sz="1100" b="0" i="0" u="none" strike="noStrike" cap="none">
                <a:solidFill>
                  <a:schemeClr val="dk1"/>
                </a:solidFill>
                <a:latin typeface="Arial"/>
                <a:ea typeface="Arial"/>
                <a:cs typeface="Arial"/>
                <a:sym typeface="Arial"/>
              </a:defRPr>
            </a:lvl9pPr>
          </a:lstStyle>
          <a:p>
            <a:endParaRPr/>
          </a:p>
        </p:txBody>
      </p:sp>
      <p:sp>
        <p:nvSpPr>
          <p:cNvPr id="61" name="Google Shape;61;p14"/>
          <p:cNvSpPr txBox="1">
            <a:spLocks noGrp="1"/>
          </p:cNvSpPr>
          <p:nvPr>
            <p:ph type="body" idx="2"/>
          </p:nvPr>
        </p:nvSpPr>
        <p:spPr>
          <a:xfrm>
            <a:off x="1371600" y="3509429"/>
            <a:ext cx="6400800" cy="685800"/>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800"/>
              </a:spcBef>
              <a:spcAft>
                <a:spcPts val="0"/>
              </a:spcAft>
              <a:buClr>
                <a:schemeClr val="dk1"/>
              </a:buClr>
              <a:buSzPts val="800"/>
              <a:buFont typeface="Arial"/>
              <a:buNone/>
              <a:defRPr sz="8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64" name="Google Shape;64;p15"/>
          <p:cNvSpPr txBox="1">
            <a:spLocks noGrp="1"/>
          </p:cNvSpPr>
          <p:nvPr>
            <p:ph type="body" idx="1"/>
          </p:nvPr>
        </p:nvSpPr>
        <p:spPr>
          <a:xfrm>
            <a:off x="207169" y="664370"/>
            <a:ext cx="8743950" cy="3930258"/>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1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3pPr>
            <a:lvl4pPr marL="1828800" marR="0" lvl="3"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65" name="Google Shape;65;p15"/>
          <p:cNvSpPr txBox="1">
            <a:spLocks noGrp="1"/>
          </p:cNvSpPr>
          <p:nvPr>
            <p:ph type="body" idx="2"/>
          </p:nvPr>
        </p:nvSpPr>
        <p:spPr>
          <a:xfrm>
            <a:off x="3550444"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cxnSp>
        <p:nvCxnSpPr>
          <p:cNvPr id="66" name="Google Shape;66;p15"/>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7"/>
        <p:cNvGrpSpPr/>
        <p:nvPr/>
      </p:nvGrpSpPr>
      <p:grpSpPr>
        <a:xfrm>
          <a:off x="0" y="0"/>
          <a:ext cx="0" cy="0"/>
          <a:chOff x="0" y="0"/>
          <a:chExt cx="0" cy="0"/>
        </a:xfrm>
      </p:grpSpPr>
      <p:sp>
        <p:nvSpPr>
          <p:cNvPr id="68" name="Google Shape;68;p16"/>
          <p:cNvSpPr txBox="1">
            <a:spLocks noGrp="1"/>
          </p:cNvSpPr>
          <p:nvPr>
            <p:ph type="body" idx="1"/>
          </p:nvPr>
        </p:nvSpPr>
        <p:spPr>
          <a:xfrm>
            <a:off x="722435" y="1993106"/>
            <a:ext cx="7772400" cy="919163"/>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100000"/>
              </a:lnSpc>
              <a:spcBef>
                <a:spcPts val="16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1pPr>
            <a:lvl2pPr marL="914400" marR="0" lvl="1"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1371600" marR="0" lvl="2" indent="-228600" algn="l" rtl="0">
              <a:lnSpc>
                <a:spcPct val="100000"/>
              </a:lnSpc>
              <a:spcBef>
                <a:spcPts val="20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3pPr>
            <a:lvl4pPr marL="1828800" marR="0" lvl="3"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4pPr>
            <a:lvl5pPr marL="2286000" marR="0" lvl="4"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5pPr>
            <a:lvl6pPr marL="2743200" marR="0" lvl="5"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6pPr>
            <a:lvl7pPr marL="3200400" marR="0" lvl="6"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7pPr>
            <a:lvl8pPr marL="3657600" marR="0" lvl="7"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8pPr>
            <a:lvl9pPr marL="4114800" marR="0" lvl="8" indent="-228600" algn="l" rtl="0">
              <a:lnSpc>
                <a:spcPct val="100000"/>
              </a:lnSpc>
              <a:spcBef>
                <a:spcPts val="2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9pPr>
          </a:lstStyle>
          <a:p>
            <a:endParaRPr/>
          </a:p>
        </p:txBody>
      </p:sp>
      <p:sp>
        <p:nvSpPr>
          <p:cNvPr id="69" name="Google Shape;69;p16"/>
          <p:cNvSpPr txBox="1">
            <a:spLocks noGrp="1"/>
          </p:cNvSpPr>
          <p:nvPr>
            <p:ph type="body" idx="2"/>
          </p:nvPr>
        </p:nvSpPr>
        <p:spPr>
          <a:xfrm>
            <a:off x="722435" y="2912273"/>
            <a:ext cx="7772400" cy="365527"/>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1400"/>
              </a:spcBef>
              <a:spcAft>
                <a:spcPts val="0"/>
              </a:spcAft>
              <a:buClr>
                <a:schemeClr val="dk1"/>
              </a:buClr>
              <a:buSzPts val="1400"/>
              <a:buFont typeface="Arial"/>
              <a:buNone/>
              <a:defRPr sz="1400" b="0" i="0"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0"/>
        <p:cNvGrpSpPr/>
        <p:nvPr/>
      </p:nvGrpSpPr>
      <p:grpSpPr>
        <a:xfrm>
          <a:off x="0" y="0"/>
          <a:ext cx="0" cy="0"/>
          <a:chOff x="0" y="0"/>
          <a:chExt cx="0" cy="0"/>
        </a:xfrm>
      </p:grpSpPr>
      <p:sp>
        <p:nvSpPr>
          <p:cNvPr id="71" name="Google Shape;71;p17"/>
          <p:cNvSpPr txBox="1">
            <a:spLocks noGrp="1"/>
          </p:cNvSpPr>
          <p:nvPr>
            <p:ph type="body" idx="1"/>
          </p:nvPr>
        </p:nvSpPr>
        <p:spPr>
          <a:xfrm>
            <a:off x="207172" y="664370"/>
            <a:ext cx="4294493" cy="3930257"/>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1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3pPr>
            <a:lvl4pPr marL="1828800" marR="0" lvl="3"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72" name="Google Shape;72;p17"/>
          <p:cNvSpPr txBox="1">
            <a:spLocks noGrp="1"/>
          </p:cNvSpPr>
          <p:nvPr>
            <p:ph type="body" idx="2"/>
          </p:nvPr>
        </p:nvSpPr>
        <p:spPr>
          <a:xfrm>
            <a:off x="4642341" y="664370"/>
            <a:ext cx="4308781" cy="3930257"/>
          </a:xfrm>
          <a:prstGeom prst="rect">
            <a:avLst/>
          </a:prstGeom>
          <a:noFill/>
          <a:ln>
            <a:noFill/>
          </a:ln>
        </p:spPr>
        <p:txBody>
          <a:bodyPr spcFirstLastPara="1" wrap="square" lIns="68575" tIns="34275" rIns="68575" bIns="34275" anchor="t" anchorCtr="0">
            <a:noAutofit/>
          </a:bodyPr>
          <a:lstStyle>
            <a:lvl1pPr marL="457200" marR="0" lvl="0" indent="-317500" algn="l" rtl="0">
              <a:lnSpc>
                <a:spcPct val="100000"/>
              </a:lnSpc>
              <a:spcBef>
                <a:spcPts val="1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3pPr>
            <a:lvl4pPr marL="1828800" marR="0" lvl="3"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4pPr>
            <a:lvl5pPr marL="2286000" marR="0" lvl="4"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6pPr>
            <a:lvl7pPr marL="3200400" marR="0" lvl="6"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7pPr>
            <a:lvl8pPr marL="3657600" marR="0" lvl="7"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8pPr>
            <a:lvl9pPr marL="4114800" marR="0" lvl="8"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9pPr>
          </a:lstStyle>
          <a:p>
            <a:endParaRPr/>
          </a:p>
        </p:txBody>
      </p:sp>
      <p:sp>
        <p:nvSpPr>
          <p:cNvPr id="73" name="Google Shape;73;p17"/>
          <p:cNvSpPr txBox="1">
            <a:spLocks noGrp="1"/>
          </p:cNvSpPr>
          <p:nvPr>
            <p:ph type="body" idx="3"/>
          </p:nvPr>
        </p:nvSpPr>
        <p:spPr>
          <a:xfrm>
            <a:off x="207169"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74" name="Google Shape;74;p17"/>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cxnSp>
        <p:nvCxnSpPr>
          <p:cNvPr id="75" name="Google Shape;75;p17"/>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84"/>
        <p:cNvGrpSpPr/>
        <p:nvPr/>
      </p:nvGrpSpPr>
      <p:grpSpPr>
        <a:xfrm>
          <a:off x="0" y="0"/>
          <a:ext cx="0" cy="0"/>
          <a:chOff x="0" y="0"/>
          <a:chExt cx="0" cy="0"/>
        </a:xfrm>
      </p:grpSpPr>
      <p:sp>
        <p:nvSpPr>
          <p:cNvPr id="85" name="Google Shape;85;p19"/>
          <p:cNvSpPr txBox="1">
            <a:spLocks noGrp="1"/>
          </p:cNvSpPr>
          <p:nvPr>
            <p:ph type="title"/>
          </p:nvPr>
        </p:nvSpPr>
        <p:spPr>
          <a:xfrm>
            <a:off x="207172" y="664374"/>
            <a:ext cx="3258469" cy="411955"/>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86" name="Google Shape;86;p19"/>
          <p:cNvSpPr txBox="1">
            <a:spLocks noGrp="1"/>
          </p:cNvSpPr>
          <p:nvPr>
            <p:ph type="body" idx="1"/>
          </p:nvPr>
        </p:nvSpPr>
        <p:spPr>
          <a:xfrm>
            <a:off x="3575540" y="664370"/>
            <a:ext cx="5375581" cy="3930257"/>
          </a:xfrm>
          <a:prstGeom prst="rect">
            <a:avLst/>
          </a:prstGeom>
          <a:noFill/>
          <a:ln>
            <a:noFill/>
          </a:ln>
        </p:spPr>
        <p:txBody>
          <a:bodyPr spcFirstLastPara="1" wrap="square" lIns="68575" tIns="34275" rIns="68575" bIns="34275" anchor="t" anchorCtr="0">
            <a:noAutofit/>
          </a:bodyPr>
          <a:lstStyle>
            <a:lvl1pPr marL="457200" marR="0" lvl="0" indent="-298450" algn="l" rtl="0">
              <a:lnSpc>
                <a:spcPct val="100000"/>
              </a:lnSpc>
              <a:spcBef>
                <a:spcPts val="11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1pPr>
            <a:lvl2pPr marL="914400" marR="0" lvl="1" indent="-292100" algn="l" rtl="0">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2pPr>
            <a:lvl3pPr marL="1371600" marR="0" lvl="2" indent="-285750" algn="l" rtl="0">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3pPr>
            <a:lvl4pPr marL="1828800" marR="0" lvl="3" indent="-279400" algn="l" rtl="0">
              <a:lnSpc>
                <a:spcPct val="100000"/>
              </a:lnSpc>
              <a:spcBef>
                <a:spcPts val="2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4pPr>
            <a:lvl5pPr marL="2286000" marR="0" lvl="4" indent="-279400" algn="l" rtl="0">
              <a:lnSpc>
                <a:spcPct val="100000"/>
              </a:lnSpc>
              <a:spcBef>
                <a:spcPts val="20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87" name="Google Shape;87;p19"/>
          <p:cNvSpPr txBox="1">
            <a:spLocks noGrp="1"/>
          </p:cNvSpPr>
          <p:nvPr>
            <p:ph type="body" idx="2"/>
          </p:nvPr>
        </p:nvSpPr>
        <p:spPr>
          <a:xfrm>
            <a:off x="207172" y="1076326"/>
            <a:ext cx="3258469" cy="3518300"/>
          </a:xfrm>
          <a:prstGeom prst="rect">
            <a:avLst/>
          </a:prstGeom>
          <a:noFill/>
          <a:ln>
            <a:noFill/>
          </a:ln>
        </p:spPr>
        <p:txBody>
          <a:bodyPr spcFirstLastPara="1" wrap="square" lIns="68575" tIns="34275" rIns="68575" bIns="34275" anchor="t" anchorCtr="0">
            <a:noAutofit/>
          </a:bodyPr>
          <a:lstStyle>
            <a:lvl1pPr marL="457200" marR="0" lvl="0" indent="-228600" algn="l"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914400" marR="0" lvl="1" indent="-228600" algn="l" rtl="0">
              <a:lnSpc>
                <a:spcPct val="100000"/>
              </a:lnSpc>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600"/>
              <a:buFont typeface="Arial"/>
              <a:buNone/>
              <a:defRPr sz="600" b="0" i="0" u="none" strike="noStrike" cap="none">
                <a:solidFill>
                  <a:schemeClr val="dk1"/>
                </a:solidFill>
                <a:latin typeface="Arial"/>
                <a:ea typeface="Arial"/>
                <a:cs typeface="Arial"/>
                <a:sym typeface="Arial"/>
              </a:defRPr>
            </a:lvl3pPr>
            <a:lvl4pPr marL="1828800" marR="0" lvl="3"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4pPr>
            <a:lvl5pPr marL="2286000" marR="0" lvl="4"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5pPr>
            <a:lvl6pPr marL="2743200" marR="0" lvl="5"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6pPr>
            <a:lvl7pPr marL="3200400" marR="0" lvl="6"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7pPr>
            <a:lvl8pPr marL="3657600" marR="0" lvl="7"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8pPr>
            <a:lvl9pPr marL="4114800" marR="0" lvl="8"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9pPr>
          </a:lstStyle>
          <a:p>
            <a:endParaRPr/>
          </a:p>
        </p:txBody>
      </p:sp>
      <p:sp>
        <p:nvSpPr>
          <p:cNvPr id="88" name="Google Shape;88;p19"/>
          <p:cNvSpPr txBox="1">
            <a:spLocks noGrp="1"/>
          </p:cNvSpPr>
          <p:nvPr>
            <p:ph type="body" idx="3"/>
          </p:nvPr>
        </p:nvSpPr>
        <p:spPr>
          <a:xfrm>
            <a:off x="207169"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cxnSp>
        <p:nvCxnSpPr>
          <p:cNvPr id="89" name="Google Shape;89;p19"/>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
        <p:nvSpPr>
          <p:cNvPr id="90" name="Google Shape;90;p19"/>
          <p:cNvSpPr txBox="1"/>
          <p:nvPr/>
        </p:nvSpPr>
        <p:spPr>
          <a:xfrm>
            <a:off x="207170" y="56393"/>
            <a:ext cx="7341339" cy="351234"/>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rgbClr val="000000"/>
              </a:buClr>
              <a:buSzPts val="1600"/>
              <a:buFont typeface="Arial"/>
              <a:buNone/>
            </a:pPr>
            <a:r>
              <a:rPr lang="en" sz="1600" b="1" i="0" u="none" strike="noStrike" cap="none">
                <a:solidFill>
                  <a:schemeClr val="dk1"/>
                </a:solidFill>
                <a:latin typeface="Arial"/>
                <a:ea typeface="Arial"/>
                <a:cs typeface="Arial"/>
                <a:sym typeface="Arial"/>
              </a:rPr>
              <a:t>Section Title</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1792166" y="3600450"/>
            <a:ext cx="5486400" cy="425054"/>
          </a:xfrm>
          <a:prstGeom prst="rect">
            <a:avLst/>
          </a:prstGeom>
          <a:noFill/>
          <a:ln>
            <a:noFill/>
          </a:ln>
        </p:spPr>
        <p:txBody>
          <a:bodyPr spcFirstLastPara="1" wrap="square" lIns="68575" tIns="34275" rIns="68575" bIns="34275" anchor="b" anchorCtr="0">
            <a:noAutofit/>
          </a:bodyPr>
          <a:lstStyle>
            <a:lvl1pPr marR="0" lvl="0" algn="ctr" rtl="0">
              <a:lnSpc>
                <a:spcPct val="90000"/>
              </a:lnSpc>
              <a:spcBef>
                <a:spcPts val="0"/>
              </a:spcBef>
              <a:spcAft>
                <a:spcPts val="0"/>
              </a:spcAft>
              <a:buClr>
                <a:srgbClr val="000000"/>
              </a:buClr>
              <a:buSzPts val="1100"/>
              <a:buFont typeface="Arial"/>
              <a:buNone/>
              <a:defRPr sz="11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sp>
        <p:nvSpPr>
          <p:cNvPr id="93" name="Google Shape;93;p20"/>
          <p:cNvSpPr>
            <a:spLocks noGrp="1"/>
          </p:cNvSpPr>
          <p:nvPr>
            <p:ph type="pic" idx="2"/>
          </p:nvPr>
        </p:nvSpPr>
        <p:spPr>
          <a:xfrm>
            <a:off x="1792166" y="664370"/>
            <a:ext cx="5486400" cy="2881311"/>
          </a:xfrm>
          <a:prstGeom prst="rect">
            <a:avLst/>
          </a:prstGeom>
          <a:noFill/>
          <a:ln>
            <a:noFill/>
          </a:ln>
        </p:spPr>
      </p:sp>
      <p:sp>
        <p:nvSpPr>
          <p:cNvPr id="94" name="Google Shape;94;p20"/>
          <p:cNvSpPr txBox="1">
            <a:spLocks noGrp="1"/>
          </p:cNvSpPr>
          <p:nvPr>
            <p:ph type="body" idx="1"/>
          </p:nvPr>
        </p:nvSpPr>
        <p:spPr>
          <a:xfrm>
            <a:off x="1792166" y="4025504"/>
            <a:ext cx="5486400" cy="5691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800"/>
              </a:spcBef>
              <a:spcAft>
                <a:spcPts val="0"/>
              </a:spcAft>
              <a:buClr>
                <a:schemeClr val="dk1"/>
              </a:buClr>
              <a:buSzPts val="800"/>
              <a:buFont typeface="Arial"/>
              <a:buNone/>
              <a:defRPr sz="800" b="0" i="0" u="none" strike="noStrike" cap="none">
                <a:solidFill>
                  <a:schemeClr val="dk1"/>
                </a:solidFill>
                <a:latin typeface="Arial"/>
                <a:ea typeface="Arial"/>
                <a:cs typeface="Arial"/>
                <a:sym typeface="Arial"/>
              </a:defRPr>
            </a:lvl1pPr>
            <a:lvl2pPr marL="914400" marR="0" lvl="1" indent="-228600" algn="l" rtl="0">
              <a:lnSpc>
                <a:spcPct val="100000"/>
              </a:lnSpc>
              <a:spcBef>
                <a:spcPts val="100"/>
              </a:spcBef>
              <a:spcAft>
                <a:spcPts val="0"/>
              </a:spcAft>
              <a:buClr>
                <a:schemeClr val="dk1"/>
              </a:buClr>
              <a:buSzPts val="700"/>
              <a:buFont typeface="Arial"/>
              <a:buNone/>
              <a:defRPr sz="7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600"/>
              <a:buFont typeface="Arial"/>
              <a:buNone/>
              <a:defRPr sz="600" b="0" i="0" u="none" strike="noStrike" cap="none">
                <a:solidFill>
                  <a:schemeClr val="dk1"/>
                </a:solidFill>
                <a:latin typeface="Arial"/>
                <a:ea typeface="Arial"/>
                <a:cs typeface="Arial"/>
                <a:sym typeface="Arial"/>
              </a:defRPr>
            </a:lvl3pPr>
            <a:lvl4pPr marL="1828800" marR="0" lvl="3"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4pPr>
            <a:lvl5pPr marL="2286000" marR="0" lvl="4"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5pPr>
            <a:lvl6pPr marL="2743200" marR="0" lvl="5"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6pPr>
            <a:lvl7pPr marL="3200400" marR="0" lvl="6"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7pPr>
            <a:lvl8pPr marL="3657600" marR="0" lvl="7"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8pPr>
            <a:lvl9pPr marL="4114800" marR="0" lvl="8" indent="-228600" algn="l" rtl="0">
              <a:lnSpc>
                <a:spcPct val="100000"/>
              </a:lnSpc>
              <a:spcBef>
                <a:spcPts val="100"/>
              </a:spcBef>
              <a:spcAft>
                <a:spcPts val="0"/>
              </a:spcAft>
              <a:buClr>
                <a:schemeClr val="dk1"/>
              </a:buClr>
              <a:buSzPts val="500"/>
              <a:buFont typeface="Arial"/>
              <a:buNone/>
              <a:defRPr sz="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5"/>
        <p:cNvGrpSpPr/>
        <p:nvPr/>
      </p:nvGrpSpPr>
      <p:grpSpPr>
        <a:xfrm>
          <a:off x="0" y="0"/>
          <a:ext cx="0" cy="0"/>
          <a:chOff x="0" y="0"/>
          <a:chExt cx="0" cy="0"/>
        </a:xfrm>
      </p:grpSpPr>
      <p:sp>
        <p:nvSpPr>
          <p:cNvPr id="96" name="Google Shape;96;p21"/>
          <p:cNvSpPr txBox="1">
            <a:spLocks noGrp="1"/>
          </p:cNvSpPr>
          <p:nvPr>
            <p:ph type="body" idx="1"/>
          </p:nvPr>
        </p:nvSpPr>
        <p:spPr>
          <a:xfrm>
            <a:off x="207169" y="4386808"/>
            <a:ext cx="2057400" cy="207824"/>
          </a:xfrm>
          <a:prstGeom prst="rect">
            <a:avLst/>
          </a:prstGeom>
          <a:noFill/>
          <a:ln>
            <a:noFill/>
          </a:ln>
        </p:spPr>
        <p:txBody>
          <a:bodyPr spcFirstLastPara="1" wrap="square" lIns="68575" tIns="34275" rIns="68575" bIns="34275" anchor="t" anchorCtr="0">
            <a:noAutofit/>
          </a:bodyPr>
          <a:lstStyle>
            <a:lvl1pPr marL="457200" marR="0" lvl="0" indent="-228600" algn="ctr" rtl="0">
              <a:lnSpc>
                <a:spcPct val="100000"/>
              </a:lnSpc>
              <a:spcBef>
                <a:spcPts val="700"/>
              </a:spcBef>
              <a:spcAft>
                <a:spcPts val="0"/>
              </a:spcAft>
              <a:buClr>
                <a:schemeClr val="dk1"/>
              </a:buClr>
              <a:buSzPts val="700"/>
              <a:buFont typeface="Arial"/>
              <a:buNone/>
              <a:defRPr sz="700" b="0" i="1" u="none" strike="noStrike" cap="none">
                <a:solidFill>
                  <a:schemeClr val="dk1"/>
                </a:solidFill>
                <a:latin typeface="Arial"/>
                <a:ea typeface="Arial"/>
                <a:cs typeface="Arial"/>
                <a:sym typeface="Arial"/>
              </a:defRPr>
            </a:lvl1pPr>
            <a:lvl2pPr marL="914400" marR="0" lvl="1" indent="-330200"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6pPr>
            <a:lvl7pPr marL="3200400" marR="0" lvl="6"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7pPr>
            <a:lvl8pPr marL="3657600" marR="0" lvl="7"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8pPr>
            <a:lvl9pPr marL="4114800" marR="0" lvl="8" indent="-298450" algn="l" rtl="0">
              <a:lnSpc>
                <a:spcPct val="100000"/>
              </a:lnSpc>
              <a:spcBef>
                <a:spcPts val="2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9pPr>
          </a:lstStyle>
          <a:p>
            <a:endParaRPr/>
          </a:p>
        </p:txBody>
      </p:sp>
      <p:sp>
        <p:nvSpPr>
          <p:cNvPr id="97" name="Google Shape;97;p21"/>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chemeClr val="dk1"/>
                </a:solidFill>
                <a:latin typeface="Arial"/>
                <a:ea typeface="Arial"/>
                <a:cs typeface="Arial"/>
                <a:sym typeface="Arial"/>
              </a:defRPr>
            </a:lvl1pPr>
            <a:lvl2pPr marR="0" lvl="1"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2pPr>
            <a:lvl3pPr marR="0" lvl="2"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3pPr>
            <a:lvl4pPr marR="0" lvl="3"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4pPr>
            <a:lvl5pPr marR="0" lvl="4"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5pPr>
            <a:lvl6pPr marR="0" lvl="5"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6pPr>
            <a:lvl7pPr marR="0" lvl="6"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7pPr>
            <a:lvl8pPr marR="0" lvl="7"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8pPr>
            <a:lvl9pPr marR="0" lvl="8" algn="l" rtl="0">
              <a:lnSpc>
                <a:spcPct val="90000"/>
              </a:lnSpc>
              <a:spcBef>
                <a:spcPts val="0"/>
              </a:spcBef>
              <a:spcAft>
                <a:spcPts val="0"/>
              </a:spcAft>
              <a:buClr>
                <a:srgbClr val="000000"/>
              </a:buClr>
              <a:buSzPts val="1100"/>
              <a:buFont typeface="Arial"/>
              <a:buNone/>
              <a:defRPr sz="1600" b="1" i="0" u="none" strike="noStrike" cap="none">
                <a:solidFill>
                  <a:srgbClr val="FFCC99"/>
                </a:solidFill>
                <a:latin typeface="Arial"/>
                <a:ea typeface="Arial"/>
                <a:cs typeface="Arial"/>
                <a:sym typeface="Arial"/>
              </a:defRPr>
            </a:lvl9pPr>
          </a:lstStyle>
          <a:p>
            <a:endParaRPr/>
          </a:p>
        </p:txBody>
      </p:sp>
      <p:cxnSp>
        <p:nvCxnSpPr>
          <p:cNvPr id="98" name="Google Shape;98;p21"/>
          <p:cNvCxnSpPr/>
          <p:nvPr/>
        </p:nvCxnSpPr>
        <p:spPr>
          <a:xfrm>
            <a:off x="-7144" y="495678"/>
            <a:ext cx="9155430" cy="0"/>
          </a:xfrm>
          <a:prstGeom prst="straightConnector1">
            <a:avLst/>
          </a:prstGeom>
          <a:solidFill>
            <a:srgbClr val="FFFFFF"/>
          </a:solidFill>
          <a:ln w="66675" cap="flat" cmpd="sng">
            <a:solidFill>
              <a:srgbClr val="FFCA06"/>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7170" y="56393"/>
            <a:ext cx="7341339" cy="351234"/>
          </a:xfrm>
          <a:prstGeom prst="rect">
            <a:avLst/>
          </a:prstGeom>
        </p:spPr>
        <p:txBody>
          <a:bodyPr anchor="ctr"/>
          <a:lstStyle>
            <a:lvl1pPr>
              <a:defRPr baseline="0">
                <a:solidFill>
                  <a:schemeClr val="tx1"/>
                </a:solidFill>
              </a:defRPr>
            </a:lvl1pPr>
          </a:lstStyle>
          <a:p>
            <a:r>
              <a:rPr lang="en-US"/>
              <a:t>Section Title</a:t>
            </a:r>
          </a:p>
        </p:txBody>
      </p:sp>
      <p:sp>
        <p:nvSpPr>
          <p:cNvPr id="3" name="Content Placeholder 2"/>
          <p:cNvSpPr>
            <a:spLocks noGrp="1"/>
          </p:cNvSpPr>
          <p:nvPr>
            <p:ph idx="1"/>
          </p:nvPr>
        </p:nvSpPr>
        <p:spPr>
          <a:xfrm>
            <a:off x="207169" y="664369"/>
            <a:ext cx="8743950" cy="3930258"/>
          </a:xfrm>
          <a:prstGeom prst="rect">
            <a:avLst/>
          </a:prstGeom>
        </p:spPr>
        <p:txBody>
          <a:bodyPr/>
          <a:lstStyle>
            <a:lvl1pPr>
              <a:defRPr sz="1350"/>
            </a:lvl1pPr>
            <a:lvl2pPr>
              <a:defRPr sz="1125"/>
            </a:lvl2pPr>
            <a:lvl3pPr>
              <a:defRPr sz="1013"/>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p:cNvSpPr>
            <a:spLocks noGrp="1"/>
          </p:cNvSpPr>
          <p:nvPr>
            <p:ph type="body" sz="quarter" idx="10" hasCustomPrompt="1"/>
          </p:nvPr>
        </p:nvSpPr>
        <p:spPr>
          <a:xfrm>
            <a:off x="3550444" y="4386808"/>
            <a:ext cx="2057400" cy="207824"/>
          </a:xfrm>
          <a:prstGeom prst="rect">
            <a:avLst/>
          </a:prstGeom>
        </p:spPr>
        <p:txBody>
          <a:bodyPr/>
          <a:lstStyle>
            <a:lvl1pPr marL="0" indent="0" algn="ctr">
              <a:buNone/>
              <a:defRPr sz="675" i="1" baseline="0"/>
            </a:lvl1pPr>
          </a:lstStyle>
          <a:p>
            <a:pPr lvl="0"/>
            <a:r>
              <a:rPr lang="en-US"/>
              <a:t>Figure or Table N: Caption.</a:t>
            </a:r>
          </a:p>
        </p:txBody>
      </p:sp>
      <p:cxnSp>
        <p:nvCxnSpPr>
          <p:cNvPr id="4" name="Straight Connector 3">
            <a:extLst>
              <a:ext uri="{FF2B5EF4-FFF2-40B4-BE49-F238E27FC236}">
                <a16:creationId xmlns:a16="http://schemas.microsoft.com/office/drawing/2014/main" id="{4ED28861-EA7A-5C09-B3F3-3763539B7998}"/>
              </a:ext>
            </a:extLst>
          </p:cNvPr>
          <p:cNvCxnSpPr/>
          <p:nvPr userDrawn="1"/>
        </p:nvCxnSpPr>
        <p:spPr bwMode="auto">
          <a:xfrm>
            <a:off x="-7144" y="495678"/>
            <a:ext cx="9155430" cy="0"/>
          </a:xfrm>
          <a:prstGeom prst="line">
            <a:avLst/>
          </a:prstGeom>
          <a:solidFill>
            <a:srgbClr val="FFFFFF"/>
          </a:solidFill>
          <a:ln w="66675" cap="flat" cmpd="sng" algn="ctr">
            <a:solidFill>
              <a:srgbClr val="FFCA06"/>
            </a:solidFill>
            <a:prstDash val="solid"/>
            <a:round/>
            <a:headEnd type="none" w="med" len="med"/>
            <a:tailEnd type="none" w="med" len="med"/>
          </a:ln>
          <a:effectLst/>
        </p:spPr>
      </p:cxnSp>
    </p:spTree>
    <p:extLst>
      <p:ext uri="{BB962C8B-B14F-4D97-AF65-F5344CB8AC3E}">
        <p14:creationId xmlns:p14="http://schemas.microsoft.com/office/powerpoint/2010/main" val="3400480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
        <p:cNvGrpSpPr/>
        <p:nvPr/>
      </p:nvGrpSpPr>
      <p:grpSpPr>
        <a:xfrm>
          <a:off x="0" y="0"/>
          <a:ext cx="0" cy="0"/>
          <a:chOff x="0" y="0"/>
          <a:chExt cx="0" cy="0"/>
        </a:xfrm>
      </p:grpSpPr>
      <p:sp>
        <p:nvSpPr>
          <p:cNvPr id="51" name="Google Shape;51;p13"/>
          <p:cNvSpPr/>
          <p:nvPr/>
        </p:nvSpPr>
        <p:spPr>
          <a:xfrm>
            <a:off x="292890" y="4833388"/>
            <a:ext cx="8851110" cy="308610"/>
          </a:xfrm>
          <a:prstGeom prst="rect">
            <a:avLst/>
          </a:prstGeom>
          <a:solidFill>
            <a:srgbClr val="FFCA06"/>
          </a:solid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chemeClr val="dk1"/>
              </a:buClr>
              <a:buSzPts val="1500"/>
              <a:buFont typeface="Arial"/>
              <a:buNone/>
            </a:pPr>
            <a:endParaRPr sz="1500" b="0" i="0" u="none" strike="noStrike" cap="none">
              <a:solidFill>
                <a:schemeClr val="dk1"/>
              </a:solidFill>
              <a:latin typeface="Arial"/>
              <a:ea typeface="Arial"/>
              <a:cs typeface="Arial"/>
              <a:sym typeface="Arial"/>
            </a:endParaRPr>
          </a:p>
        </p:txBody>
      </p:sp>
      <p:sp>
        <p:nvSpPr>
          <p:cNvPr id="52" name="Google Shape;52;p13"/>
          <p:cNvSpPr txBox="1"/>
          <p:nvPr/>
        </p:nvSpPr>
        <p:spPr>
          <a:xfrm>
            <a:off x="8765195" y="4914197"/>
            <a:ext cx="304800" cy="15581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1000"/>
              <a:buFont typeface="Arial"/>
              <a:buNone/>
            </a:pPr>
            <a:fld id="{00000000-1234-1234-1234-123412341234}" type="slidenum">
              <a:rPr lang="en" sz="1000" b="1" i="0" u="none" strike="noStrike" cap="none">
                <a:solidFill>
                  <a:srgbClr val="000000"/>
                </a:solidFill>
                <a:latin typeface="Arial"/>
                <a:ea typeface="Arial"/>
                <a:cs typeface="Arial"/>
                <a:sym typeface="Arial"/>
              </a:rPr>
              <a:t>‹#›</a:t>
            </a:fld>
            <a:endParaRPr sz="1400" b="1" i="0" u="none" strike="noStrike" cap="none">
              <a:solidFill>
                <a:srgbClr val="000000"/>
              </a:solidFill>
              <a:latin typeface="Arial"/>
              <a:ea typeface="Arial"/>
              <a:cs typeface="Arial"/>
              <a:sym typeface="Arial"/>
            </a:endParaRPr>
          </a:p>
        </p:txBody>
      </p:sp>
      <p:sp>
        <p:nvSpPr>
          <p:cNvPr id="53" name="Google Shape;53;p13"/>
          <p:cNvSpPr txBox="1"/>
          <p:nvPr/>
        </p:nvSpPr>
        <p:spPr>
          <a:xfrm>
            <a:off x="7529944" y="62894"/>
            <a:ext cx="1614056" cy="346249"/>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Conference</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Section</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chemeClr val="dk1"/>
                </a:solidFill>
                <a:latin typeface="Arial"/>
                <a:ea typeface="Arial"/>
                <a:cs typeface="Arial"/>
                <a:sym typeface="Arial"/>
              </a:rPr>
              <a:t>Date</a:t>
            </a:r>
            <a:endParaRPr sz="600" b="1" i="0" u="none" strike="noStrike" cap="none">
              <a:solidFill>
                <a:schemeClr val="dk1"/>
              </a:solidFill>
              <a:latin typeface="Arial"/>
              <a:ea typeface="Arial"/>
              <a:cs typeface="Arial"/>
              <a:sym typeface="Arial"/>
            </a:endParaRPr>
          </a:p>
        </p:txBody>
      </p:sp>
      <p:sp>
        <p:nvSpPr>
          <p:cNvPr id="54" name="Google Shape;54;p13"/>
          <p:cNvSpPr txBox="1"/>
          <p:nvPr/>
        </p:nvSpPr>
        <p:spPr>
          <a:xfrm>
            <a:off x="4731490" y="4843898"/>
            <a:ext cx="3911703" cy="302006"/>
          </a:xfrm>
          <a:prstGeom prst="rect">
            <a:avLst/>
          </a:prstGeom>
          <a:noFill/>
          <a:ln>
            <a:noFill/>
          </a:ln>
        </p:spPr>
        <p:txBody>
          <a:bodyPr spcFirstLastPara="1" wrap="square" lIns="68575" tIns="34275" rIns="68575" bIns="34275" anchor="t" anchorCtr="0">
            <a:spAutoFit/>
          </a:bodyPr>
          <a:lstStyle/>
          <a:p>
            <a:pPr marL="0" marR="0" lvl="0" indent="0" algn="r" rtl="0">
              <a:lnSpc>
                <a:spcPct val="100000"/>
              </a:lnSpc>
              <a:spcBef>
                <a:spcPts val="0"/>
              </a:spcBef>
              <a:spcAft>
                <a:spcPts val="0"/>
              </a:spcAft>
              <a:buClr>
                <a:srgbClr val="000000"/>
              </a:buClr>
              <a:buSzPts val="600"/>
              <a:buFont typeface="Arial"/>
              <a:buNone/>
            </a:pPr>
            <a:r>
              <a:rPr lang="en" sz="600" b="1" i="0" u="none" strike="noStrike" cap="none">
                <a:solidFill>
                  <a:schemeClr val="dk1"/>
                </a:solidFill>
                <a:latin typeface="Arial"/>
                <a:ea typeface="Arial"/>
                <a:cs typeface="Arial"/>
                <a:sym typeface="Arial"/>
              </a:rPr>
              <a:t>Distribution Statement</a:t>
            </a:r>
            <a:r>
              <a:rPr lang="en" sz="600" b="0" i="0" u="none" strike="noStrike" cap="none">
                <a:solidFill>
                  <a:schemeClr val="dk1"/>
                </a:solidFill>
                <a:latin typeface="Arial"/>
                <a:ea typeface="Arial"/>
                <a:cs typeface="Arial"/>
                <a:sym typeface="Arial"/>
              </a:rPr>
              <a:t>: Only if applicable.</a:t>
            </a:r>
            <a:endParaRPr sz="1100" b="0" i="0" u="none" strike="noStrike" cap="none">
              <a:solidFill>
                <a:srgbClr val="000000"/>
              </a:solidFill>
              <a:latin typeface="Arial"/>
              <a:ea typeface="Arial"/>
              <a:cs typeface="Arial"/>
              <a:sym typeface="Arial"/>
            </a:endParaRPr>
          </a:p>
          <a:p>
            <a:pPr marL="0" marR="0" lvl="0" indent="0" algn="r" rtl="0">
              <a:lnSpc>
                <a:spcPct val="100000"/>
              </a:lnSpc>
              <a:spcBef>
                <a:spcPts val="300"/>
              </a:spcBef>
              <a:spcAft>
                <a:spcPts val="0"/>
              </a:spcAft>
              <a:buClr>
                <a:schemeClr val="dk1"/>
              </a:buClr>
              <a:buSzPts val="600"/>
              <a:buFont typeface="Arial"/>
              <a:buNone/>
            </a:pPr>
            <a:r>
              <a:rPr lang="en" sz="600" b="1" i="0" u="none" strike="noStrike" cap="none">
                <a:solidFill>
                  <a:schemeClr val="dk1"/>
                </a:solidFill>
                <a:latin typeface="Arial"/>
                <a:ea typeface="Arial"/>
                <a:cs typeface="Arial"/>
                <a:sym typeface="Arial"/>
              </a:rPr>
              <a:t>Copyright</a:t>
            </a:r>
            <a:r>
              <a:rPr lang="en" sz="600" b="0" i="0" u="none" strike="noStrike" cap="none">
                <a:solidFill>
                  <a:schemeClr val="dk1"/>
                </a:solidFill>
                <a:latin typeface="Arial"/>
                <a:ea typeface="Arial"/>
                <a:cs typeface="Arial"/>
                <a:sym typeface="Arial"/>
              </a:rPr>
              <a:t>: Change me by “View” then “Slide Master”</a:t>
            </a:r>
            <a:endParaRPr sz="600" b="0" i="0" u="none" strike="noStrike" cap="none">
              <a:solidFill>
                <a:schemeClr val="dk1"/>
              </a:solidFill>
              <a:latin typeface="Arial"/>
              <a:ea typeface="Arial"/>
              <a:cs typeface="Arial"/>
              <a:sym typeface="Arial"/>
            </a:endParaRPr>
          </a:p>
        </p:txBody>
      </p:sp>
      <p:pic>
        <p:nvPicPr>
          <p:cNvPr id="55" name="Google Shape;55;p13" descr="The Center for Advanced Turbomachinery &amp;amp; Energy Research – CATERing to the  energy needs of society"/>
          <p:cNvPicPr preferRelativeResize="0"/>
          <p:nvPr/>
        </p:nvPicPr>
        <p:blipFill rotWithShape="1">
          <a:blip r:embed="rId11">
            <a:alphaModFix/>
          </a:blip>
          <a:srcRect/>
          <a:stretch/>
        </p:blipFill>
        <p:spPr>
          <a:xfrm>
            <a:off x="1514008" y="4911826"/>
            <a:ext cx="515690" cy="161583"/>
          </a:xfrm>
          <a:prstGeom prst="rect">
            <a:avLst/>
          </a:prstGeom>
          <a:noFill/>
          <a:ln>
            <a:noFill/>
          </a:ln>
        </p:spPr>
      </p:pic>
      <p:pic>
        <p:nvPicPr>
          <p:cNvPr id="56" name="Google Shape;56;p13" descr="Graphical user interface, text, application, email&#10;&#10;Description automatically generated"/>
          <p:cNvPicPr preferRelativeResize="0"/>
          <p:nvPr/>
        </p:nvPicPr>
        <p:blipFill rotWithShape="1">
          <a:blip r:embed="rId12">
            <a:alphaModFix/>
          </a:blip>
          <a:srcRect l="22599" t="16593" r="11037" b="35871"/>
          <a:stretch/>
        </p:blipFill>
        <p:spPr>
          <a:xfrm>
            <a:off x="350040" y="4857511"/>
            <a:ext cx="1138519" cy="250301"/>
          </a:xfrm>
          <a:prstGeom prst="rect">
            <a:avLst/>
          </a:prstGeom>
          <a:noFill/>
          <a:ln>
            <a:noFill/>
          </a:ln>
        </p:spPr>
      </p:pic>
      <p:pic>
        <p:nvPicPr>
          <p:cNvPr id="57" name="Google Shape;57;p13"/>
          <p:cNvPicPr preferRelativeResize="0"/>
          <p:nvPr/>
        </p:nvPicPr>
        <p:blipFill rotWithShape="1">
          <a:blip r:embed="rId13">
            <a:alphaModFix/>
          </a:blip>
          <a:srcRect t="-1" r="82893" b="30586"/>
          <a:stretch/>
        </p:blipFill>
        <p:spPr>
          <a:xfrm>
            <a:off x="0" y="4833389"/>
            <a:ext cx="292890" cy="31011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4" r:id="rId5"/>
    <p:sldLayoutId id="2147483665" r:id="rId6"/>
    <p:sldLayoutId id="2147483666" r:id="rId7"/>
    <p:sldLayoutId id="2147483667"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0.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0.xml"/><Relationship Id="rId5" Type="http://schemas.openxmlformats.org/officeDocument/2006/relationships/image" Target="../media/image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0.xml"/><Relationship Id="rId5" Type="http://schemas.openxmlformats.org/officeDocument/2006/relationships/image" Target="../media/image10.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0.xml"/><Relationship Id="rId5" Type="http://schemas.openxmlformats.org/officeDocument/2006/relationships/image" Target="../media/image11.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0.xml"/><Relationship Id="rId5" Type="http://schemas.openxmlformats.org/officeDocument/2006/relationships/image" Target="../media/image1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0.xml"/><Relationship Id="rId5" Type="http://schemas.openxmlformats.org/officeDocument/2006/relationships/image" Target="../media/image1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0.xml"/><Relationship Id="rId5" Type="http://schemas.openxmlformats.org/officeDocument/2006/relationships/image" Target="../media/image19.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0.xml"/><Relationship Id="rId5" Type="http://schemas.openxmlformats.org/officeDocument/2006/relationships/image" Target="../media/image20.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0.xml"/><Relationship Id="rId5" Type="http://schemas.openxmlformats.org/officeDocument/2006/relationships/image" Target="../media/image22.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0.xml"/><Relationship Id="rId5" Type="http://schemas.openxmlformats.org/officeDocument/2006/relationships/image" Target="../media/image2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pic>
        <p:nvPicPr>
          <p:cNvPr id="104" name="Google Shape;104;p23"/>
          <p:cNvPicPr preferRelativeResize="0"/>
          <p:nvPr/>
        </p:nvPicPr>
        <p:blipFill rotWithShape="1">
          <a:blip r:embed="rId4">
            <a:alphaModFix/>
          </a:blip>
          <a:srcRect/>
          <a:stretch/>
        </p:blipFill>
        <p:spPr>
          <a:xfrm>
            <a:off x="343660" y="4861094"/>
            <a:ext cx="3729038" cy="271463"/>
          </a:xfrm>
          <a:prstGeom prst="rect">
            <a:avLst/>
          </a:prstGeom>
          <a:noFill/>
          <a:ln>
            <a:noFill/>
          </a:ln>
        </p:spPr>
      </p:pic>
      <p:pic>
        <p:nvPicPr>
          <p:cNvPr id="105" name="Google Shape;105;p23"/>
          <p:cNvPicPr preferRelativeResize="0"/>
          <p:nvPr/>
        </p:nvPicPr>
        <p:blipFill rotWithShape="1">
          <a:blip r:embed="rId4">
            <a:alphaModFix/>
          </a:blip>
          <a:srcRect/>
          <a:stretch/>
        </p:blipFill>
        <p:spPr>
          <a:xfrm>
            <a:off x="5071304" y="4861094"/>
            <a:ext cx="3729038" cy="271463"/>
          </a:xfrm>
          <a:prstGeom prst="rect">
            <a:avLst/>
          </a:prstGeom>
          <a:noFill/>
          <a:ln>
            <a:noFill/>
          </a:ln>
        </p:spPr>
      </p:pic>
      <p:pic>
        <p:nvPicPr>
          <p:cNvPr id="106" name="Google Shape;106;p23"/>
          <p:cNvPicPr preferRelativeResize="0"/>
          <p:nvPr/>
        </p:nvPicPr>
        <p:blipFill rotWithShape="1">
          <a:blip r:embed="rId5">
            <a:alphaModFix/>
          </a:blip>
          <a:srcRect/>
          <a:stretch/>
        </p:blipFill>
        <p:spPr>
          <a:xfrm>
            <a:off x="8486775" y="64978"/>
            <a:ext cx="657225" cy="621506"/>
          </a:xfrm>
          <a:prstGeom prst="rect">
            <a:avLst/>
          </a:prstGeom>
          <a:noFill/>
          <a:ln>
            <a:noFill/>
          </a:ln>
        </p:spPr>
      </p:pic>
      <p:pic>
        <p:nvPicPr>
          <p:cNvPr id="107" name="Google Shape;107;p23"/>
          <p:cNvPicPr preferRelativeResize="0"/>
          <p:nvPr/>
        </p:nvPicPr>
        <p:blipFill rotWithShape="1">
          <a:blip r:embed="rId6">
            <a:alphaModFix/>
          </a:blip>
          <a:srcRect/>
          <a:stretch/>
        </p:blipFill>
        <p:spPr>
          <a:xfrm>
            <a:off x="7548509" y="15981"/>
            <a:ext cx="1595491" cy="432536"/>
          </a:xfrm>
          <a:prstGeom prst="rect">
            <a:avLst/>
          </a:prstGeom>
          <a:noFill/>
          <a:ln>
            <a:noFill/>
          </a:ln>
        </p:spPr>
      </p:pic>
      <p:sp>
        <p:nvSpPr>
          <p:cNvPr id="108" name="Google Shape;108;p23"/>
          <p:cNvSpPr txBox="1">
            <a:spLocks noGrp="1"/>
          </p:cNvSpPr>
          <p:nvPr>
            <p:ph type="ctrTitle"/>
          </p:nvPr>
        </p:nvSpPr>
        <p:spPr>
          <a:xfrm>
            <a:off x="685800" y="1612756"/>
            <a:ext cx="7772400" cy="738182"/>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100"/>
              <a:buNone/>
            </a:pPr>
            <a:r>
              <a:rPr lang="en"/>
              <a:t>L16 – Uncorrelated Track Processing</a:t>
            </a:r>
            <a:endParaRPr/>
          </a:p>
        </p:txBody>
      </p:sp>
      <p:sp>
        <p:nvSpPr>
          <p:cNvPr id="109" name="Google Shape;109;p23"/>
          <p:cNvSpPr txBox="1">
            <a:spLocks noGrp="1"/>
          </p:cNvSpPr>
          <p:nvPr>
            <p:ph type="subTitle" idx="1"/>
          </p:nvPr>
        </p:nvSpPr>
        <p:spPr>
          <a:xfrm>
            <a:off x="1371600" y="2474420"/>
            <a:ext cx="6400800" cy="1046425"/>
          </a:xfrm>
          <a:prstGeom prst="rect">
            <a:avLst/>
          </a:prstGeom>
          <a:noFill/>
          <a:ln>
            <a:noFill/>
          </a:ln>
        </p:spPr>
        <p:txBody>
          <a:bodyPr spcFirstLastPara="1" wrap="square" lIns="68575" tIns="34275" rIns="68575" bIns="3427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By: Kyle Galang, Aurela Broqi, Ruben Dennis, Aaron Nogues, Ezra Stone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4"/>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100"/>
              <a:buNone/>
            </a:pPr>
            <a:r>
              <a:rPr lang="en"/>
              <a:t>Table of Contents</a:t>
            </a:r>
            <a:endParaRPr/>
          </a:p>
        </p:txBody>
      </p:sp>
      <p:sp>
        <p:nvSpPr>
          <p:cNvPr id="115" name="Google Shape;115;p24"/>
          <p:cNvSpPr txBox="1">
            <a:spLocks noGrp="1"/>
          </p:cNvSpPr>
          <p:nvPr>
            <p:ph type="body" idx="1"/>
          </p:nvPr>
        </p:nvSpPr>
        <p:spPr>
          <a:xfrm>
            <a:off x="207169" y="664370"/>
            <a:ext cx="8743950" cy="3930258"/>
          </a:xfrm>
          <a:prstGeom prst="rect">
            <a:avLst/>
          </a:prstGeom>
          <a:noFill/>
          <a:ln>
            <a:noFill/>
          </a:ln>
        </p:spPr>
        <p:txBody>
          <a:bodyPr spcFirstLastPara="1" wrap="square" lIns="68575" tIns="34275" rIns="68575" bIns="34275" anchor="t" anchorCtr="0">
            <a:noAutofit/>
          </a:bodyPr>
          <a:lstStyle/>
          <a:p>
            <a:pPr marL="101600" lvl="1" indent="-101600" algn="l" rtl="0">
              <a:lnSpc>
                <a:spcPct val="100000"/>
              </a:lnSpc>
              <a:spcBef>
                <a:spcPts val="0"/>
              </a:spcBef>
              <a:spcAft>
                <a:spcPts val="0"/>
              </a:spcAft>
              <a:buSzPts val="1400"/>
              <a:buChar char="–"/>
            </a:pPr>
            <a:r>
              <a:rPr lang="en-US" sz="1400" dirty="0"/>
              <a:t> Project Maturation</a:t>
            </a:r>
          </a:p>
          <a:p>
            <a:pPr marL="101600" lvl="1" indent="-101600" algn="l" rtl="0">
              <a:lnSpc>
                <a:spcPct val="100000"/>
              </a:lnSpc>
              <a:spcBef>
                <a:spcPts val="0"/>
              </a:spcBef>
              <a:spcAft>
                <a:spcPts val="0"/>
              </a:spcAft>
              <a:buSzPts val="1400"/>
              <a:buChar char="–"/>
            </a:pPr>
            <a:r>
              <a:rPr lang="en-US" sz="1400" dirty="0"/>
              <a:t> UI: UML diagram</a:t>
            </a:r>
          </a:p>
          <a:p>
            <a:pPr marL="101600" lvl="1" indent="-101600" algn="l" rtl="0">
              <a:lnSpc>
                <a:spcPct val="100000"/>
              </a:lnSpc>
              <a:spcBef>
                <a:spcPts val="0"/>
              </a:spcBef>
              <a:spcAft>
                <a:spcPts val="0"/>
              </a:spcAft>
              <a:buSzPts val="1400"/>
              <a:buChar char="–"/>
            </a:pPr>
            <a:r>
              <a:rPr lang="en-US" sz="1400" dirty="0"/>
              <a:t> </a:t>
            </a:r>
            <a:r>
              <a:rPr lang="en-US" sz="1400" dirty="0" err="1"/>
              <a:t>OpenEvolve</a:t>
            </a:r>
            <a:r>
              <a:rPr lang="en-US" sz="1400" dirty="0"/>
              <a:t>: Maximum Subarray Sum </a:t>
            </a:r>
          </a:p>
          <a:p>
            <a:pPr marL="101600" lvl="1" indent="-101600" algn="l" rtl="0">
              <a:lnSpc>
                <a:spcPct val="100000"/>
              </a:lnSpc>
              <a:spcBef>
                <a:spcPts val="0"/>
              </a:spcBef>
              <a:spcAft>
                <a:spcPts val="0"/>
              </a:spcAft>
              <a:buSzPts val="1400"/>
              <a:buChar char="–"/>
            </a:pPr>
            <a:r>
              <a:rPr lang="en-US" sz="1400" dirty="0"/>
              <a:t> </a:t>
            </a:r>
            <a:r>
              <a:rPr lang="en-US" sz="1400" dirty="0" err="1"/>
              <a:t>OpenEvolve</a:t>
            </a:r>
            <a:r>
              <a:rPr lang="en-US" sz="1400" dirty="0"/>
              <a:t>: Islands</a:t>
            </a:r>
          </a:p>
          <a:p>
            <a:pPr marL="101600" lvl="1" indent="-101600" algn="l" rtl="0">
              <a:lnSpc>
                <a:spcPct val="100000"/>
              </a:lnSpc>
              <a:spcBef>
                <a:spcPts val="0"/>
              </a:spcBef>
              <a:spcAft>
                <a:spcPts val="0"/>
              </a:spcAft>
              <a:buSzPts val="1400"/>
              <a:buChar char="–"/>
            </a:pPr>
            <a:r>
              <a:rPr lang="en-US" sz="1400" dirty="0"/>
              <a:t> </a:t>
            </a:r>
            <a:r>
              <a:rPr lang="en-US" sz="1400" dirty="0" err="1"/>
              <a:t>OpenEvolve</a:t>
            </a:r>
            <a:r>
              <a:rPr lang="en-US" sz="1400" dirty="0"/>
              <a:t>: Evolutions</a:t>
            </a:r>
          </a:p>
          <a:p>
            <a:pPr marL="101600" lvl="1" indent="-101600" algn="l" rtl="0">
              <a:lnSpc>
                <a:spcPct val="100000"/>
              </a:lnSpc>
              <a:spcBef>
                <a:spcPts val="0"/>
              </a:spcBef>
              <a:spcAft>
                <a:spcPts val="0"/>
              </a:spcAft>
              <a:buSzPts val="1400"/>
              <a:buChar char="–"/>
            </a:pPr>
            <a:r>
              <a:rPr lang="en-US" sz="1400" dirty="0"/>
              <a:t> </a:t>
            </a:r>
            <a:r>
              <a:rPr lang="en-US" sz="1400" dirty="0" err="1"/>
              <a:t>OpenEvolve</a:t>
            </a:r>
            <a:r>
              <a:rPr lang="en-US" sz="1400" dirty="0"/>
              <a:t>: Outputs</a:t>
            </a:r>
          </a:p>
          <a:p>
            <a:pPr marL="101600" lvl="1" indent="-101600" algn="l" rtl="0">
              <a:lnSpc>
                <a:spcPct val="100000"/>
              </a:lnSpc>
              <a:spcBef>
                <a:spcPts val="0"/>
              </a:spcBef>
              <a:spcAft>
                <a:spcPts val="0"/>
              </a:spcAft>
              <a:buSzPts val="1400"/>
              <a:buChar char="–"/>
            </a:pPr>
            <a:r>
              <a:rPr lang="en-US" sz="1400" dirty="0"/>
              <a:t> UCT: Diagram</a:t>
            </a:r>
          </a:p>
          <a:p>
            <a:pPr marL="101600" lvl="1" indent="-101600" algn="l" rtl="0">
              <a:lnSpc>
                <a:spcPct val="100000"/>
              </a:lnSpc>
              <a:spcBef>
                <a:spcPts val="0"/>
              </a:spcBef>
              <a:spcAft>
                <a:spcPts val="0"/>
              </a:spcAft>
              <a:buSzPts val="1400"/>
              <a:buChar char="–"/>
            </a:pPr>
            <a:r>
              <a:rPr lang="en-US" sz="1400" dirty="0"/>
              <a:t> UCT: Integrations</a:t>
            </a:r>
          </a:p>
          <a:p>
            <a:pPr marL="101600" lvl="1" indent="-101600" algn="l" rtl="0">
              <a:lnSpc>
                <a:spcPct val="100000"/>
              </a:lnSpc>
              <a:spcBef>
                <a:spcPts val="0"/>
              </a:spcBef>
              <a:spcAft>
                <a:spcPts val="0"/>
              </a:spcAft>
              <a:buSzPts val="1400"/>
              <a:buChar char="–"/>
            </a:pPr>
            <a:r>
              <a:rPr lang="en-US" sz="1400" dirty="0"/>
              <a:t> UCT: Orbital Association Metrics</a:t>
            </a:r>
          </a:p>
          <a:p>
            <a:pPr marL="101600" lvl="1" indent="-101600" algn="l" rtl="0">
              <a:lnSpc>
                <a:spcPct val="100000"/>
              </a:lnSpc>
              <a:spcBef>
                <a:spcPts val="0"/>
              </a:spcBef>
              <a:spcAft>
                <a:spcPts val="0"/>
              </a:spcAft>
              <a:buSzPts val="1400"/>
              <a:buChar char="–"/>
            </a:pPr>
            <a:r>
              <a:rPr lang="en-US" sz="1400" dirty="0"/>
              <a:t> UCT: State Metrics</a:t>
            </a:r>
          </a:p>
          <a:p>
            <a:pPr marL="101600" lvl="1" indent="-101600" algn="l" rtl="0">
              <a:lnSpc>
                <a:spcPct val="100000"/>
              </a:lnSpc>
              <a:spcBef>
                <a:spcPts val="0"/>
              </a:spcBef>
              <a:spcAft>
                <a:spcPts val="0"/>
              </a:spcAft>
              <a:buSzPts val="1400"/>
              <a:buChar char="–"/>
            </a:pPr>
            <a:r>
              <a:rPr lang="en-US" sz="1400" dirty="0"/>
              <a:t> UCT: Residual Metrics</a:t>
            </a:r>
          </a:p>
          <a:p>
            <a:pPr marL="101600" lvl="1" indent="-101600" algn="l" rtl="0">
              <a:lnSpc>
                <a:spcPct val="100000"/>
              </a:lnSpc>
              <a:spcBef>
                <a:spcPts val="0"/>
              </a:spcBef>
              <a:spcAft>
                <a:spcPts val="0"/>
              </a:spcAft>
              <a:buSzPts val="1400"/>
              <a:buChar char="–"/>
            </a:pPr>
            <a:r>
              <a:rPr lang="en-US" sz="1400" dirty="0"/>
              <a:t> UCT: Binary Metrics</a:t>
            </a:r>
          </a:p>
          <a:p>
            <a:pPr marL="101600" lvl="1" indent="-101600" algn="l" rtl="0">
              <a:lnSpc>
                <a:spcPct val="100000"/>
              </a:lnSpc>
              <a:spcBef>
                <a:spcPts val="0"/>
              </a:spcBef>
              <a:spcAft>
                <a:spcPts val="0"/>
              </a:spcAft>
              <a:buSzPts val="1400"/>
              <a:buChar char="–"/>
            </a:pPr>
            <a:r>
              <a:rPr lang="en-US" sz="1400" dirty="0"/>
              <a:t> UCT: Questions to Ponder</a:t>
            </a:r>
          </a:p>
          <a:p>
            <a:pPr marL="101600" lvl="1" indent="-101600" algn="l" rtl="0">
              <a:lnSpc>
                <a:spcPct val="100000"/>
              </a:lnSpc>
              <a:spcBef>
                <a:spcPts val="0"/>
              </a:spcBef>
              <a:spcAft>
                <a:spcPts val="0"/>
              </a:spcAft>
              <a:buSzPts val="1400"/>
              <a:buChar char="–"/>
            </a:pPr>
            <a:r>
              <a:rPr lang="en-US" sz="1400" dirty="0"/>
              <a:t> UCT: Benchmarking</a:t>
            </a:r>
          </a:p>
          <a:p>
            <a:pPr marL="101600" lvl="1" indent="-101600" algn="l" rtl="0">
              <a:lnSpc>
                <a:spcPct val="100000"/>
              </a:lnSpc>
              <a:spcBef>
                <a:spcPts val="0"/>
              </a:spcBef>
              <a:spcAft>
                <a:spcPts val="0"/>
              </a:spcAft>
              <a:buSzPts val="1400"/>
              <a:buChar char="–"/>
            </a:pPr>
            <a:r>
              <a:rPr lang="en-US" sz="1400" dirty="0"/>
              <a:t> Questions</a:t>
            </a:r>
            <a:endParaRPr lang="en-US" dirty="0"/>
          </a:p>
        </p:txBody>
      </p:sp>
      <p:pic>
        <p:nvPicPr>
          <p:cNvPr id="116" name="Google Shape;116;p24"/>
          <p:cNvPicPr preferRelativeResize="0"/>
          <p:nvPr/>
        </p:nvPicPr>
        <p:blipFill rotWithShape="1">
          <a:blip r:embed="rId3">
            <a:alphaModFix/>
          </a:blip>
          <a:srcRect/>
          <a:stretch/>
        </p:blipFill>
        <p:spPr>
          <a:xfrm>
            <a:off x="7548509" y="15981"/>
            <a:ext cx="1595491" cy="432536"/>
          </a:xfrm>
          <a:prstGeom prst="rect">
            <a:avLst/>
          </a:prstGeom>
          <a:noFill/>
          <a:ln>
            <a:noFill/>
          </a:ln>
        </p:spPr>
      </p:pic>
      <p:pic>
        <p:nvPicPr>
          <p:cNvPr id="117" name="Google Shape;117;p24"/>
          <p:cNvPicPr preferRelativeResize="0"/>
          <p:nvPr/>
        </p:nvPicPr>
        <p:blipFill rotWithShape="1">
          <a:blip r:embed="rId4">
            <a:alphaModFix/>
          </a:blip>
          <a:srcRect/>
          <a:stretch/>
        </p:blipFill>
        <p:spPr>
          <a:xfrm>
            <a:off x="343660" y="4861094"/>
            <a:ext cx="3729038" cy="271463"/>
          </a:xfrm>
          <a:prstGeom prst="rect">
            <a:avLst/>
          </a:prstGeom>
          <a:noFill/>
          <a:ln>
            <a:noFill/>
          </a:ln>
        </p:spPr>
      </p:pic>
      <p:pic>
        <p:nvPicPr>
          <p:cNvPr id="118" name="Google Shape;118;p24"/>
          <p:cNvPicPr preferRelativeResize="0"/>
          <p:nvPr/>
        </p:nvPicPr>
        <p:blipFill rotWithShape="1">
          <a:blip r:embed="rId4">
            <a:alphaModFix/>
          </a:blip>
          <a:srcRect/>
          <a:stretch/>
        </p:blipFill>
        <p:spPr>
          <a:xfrm>
            <a:off x="5071304" y="4861094"/>
            <a:ext cx="3729038" cy="2714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9BE08-3C3C-E568-3D6D-148578B2A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9E129-DA6A-82A1-E56F-D365C8A17FFE}"/>
              </a:ext>
            </a:extLst>
          </p:cNvPr>
          <p:cNvSpPr>
            <a:spLocks noGrp="1"/>
          </p:cNvSpPr>
          <p:nvPr>
            <p:ph type="title"/>
          </p:nvPr>
        </p:nvSpPr>
        <p:spPr/>
        <p:txBody>
          <a:bodyPr lIns="68580" tIns="34290" rIns="68580" bIns="34290" anchor="ctr"/>
          <a:lstStyle/>
          <a:p>
            <a:r>
              <a:rPr lang="en-US" sz="1600" b="1" dirty="0"/>
              <a:t>Project Maturation</a:t>
            </a:r>
          </a:p>
        </p:txBody>
      </p:sp>
      <p:sp>
        <p:nvSpPr>
          <p:cNvPr id="3" name="Content Placeholder 2">
            <a:extLst>
              <a:ext uri="{FF2B5EF4-FFF2-40B4-BE49-F238E27FC236}">
                <a16:creationId xmlns:a16="http://schemas.microsoft.com/office/drawing/2014/main" id="{471BF89E-A7F1-0858-0590-AA1E826B4764}"/>
              </a:ext>
            </a:extLst>
          </p:cNvPr>
          <p:cNvSpPr>
            <a:spLocks noGrp="1"/>
          </p:cNvSpPr>
          <p:nvPr>
            <p:ph idx="1"/>
          </p:nvPr>
        </p:nvSpPr>
        <p:spPr/>
        <p:txBody>
          <a:bodyPr/>
          <a:lstStyle/>
          <a:p>
            <a:r>
              <a:rPr lang="en-US" sz="1200" b="1" dirty="0"/>
              <a:t>The following items to be discussed</a:t>
            </a:r>
          </a:p>
          <a:p>
            <a:pPr lvl="1"/>
            <a:r>
              <a:rPr lang="en-US" sz="1200" dirty="0"/>
              <a:t>Environment Setup:</a:t>
            </a:r>
          </a:p>
          <a:p>
            <a:pPr lvl="2"/>
            <a:r>
              <a:rPr lang="en-US" sz="1200" dirty="0"/>
              <a:t>GitHub Repository – </a:t>
            </a:r>
            <a:r>
              <a:rPr lang="en-US" sz="1200" i="1" dirty="0">
                <a:solidFill>
                  <a:srgbClr val="00B050"/>
                </a:solidFill>
              </a:rPr>
              <a:t>mature</a:t>
            </a:r>
          </a:p>
          <a:p>
            <a:pPr lvl="2"/>
            <a:r>
              <a:rPr lang="en-US" sz="1200" dirty="0"/>
              <a:t>SDA TAP Lab &amp; UDA access – </a:t>
            </a:r>
            <a:r>
              <a:rPr lang="en-US" sz="1200" i="1" dirty="0">
                <a:solidFill>
                  <a:srgbClr val="00B050"/>
                </a:solidFill>
              </a:rPr>
              <a:t>mature</a:t>
            </a:r>
          </a:p>
          <a:p>
            <a:pPr lvl="2"/>
            <a:r>
              <a:rPr lang="en-US" sz="1200" dirty="0"/>
              <a:t>Open </a:t>
            </a:r>
            <a:r>
              <a:rPr lang="en-US" sz="1200" dirty="0" err="1"/>
              <a:t>Ondemand</a:t>
            </a:r>
            <a:r>
              <a:rPr lang="en-US" sz="1200" dirty="0"/>
              <a:t> – </a:t>
            </a:r>
            <a:r>
              <a:rPr lang="en-US" sz="1200" i="1" dirty="0">
                <a:solidFill>
                  <a:srgbClr val="C00000"/>
                </a:solidFill>
              </a:rPr>
              <a:t>identified later through the access of HPC</a:t>
            </a:r>
          </a:p>
          <a:p>
            <a:pPr lvl="2"/>
            <a:r>
              <a:rPr lang="en-US" sz="1200" dirty="0"/>
              <a:t>Documentation – </a:t>
            </a:r>
            <a:r>
              <a:rPr lang="en-US" sz="1200" i="1" dirty="0">
                <a:solidFill>
                  <a:srgbClr val="FFC000"/>
                </a:solidFill>
              </a:rPr>
              <a:t>ongoing as we develop further into symbolic regression benchmarking example</a:t>
            </a:r>
            <a:br>
              <a:rPr lang="en-US" sz="1200" i="1" dirty="0">
                <a:solidFill>
                  <a:srgbClr val="FFC000"/>
                </a:solidFill>
              </a:rPr>
            </a:br>
            <a:endParaRPr lang="en-US" sz="1200" i="1" dirty="0">
              <a:solidFill>
                <a:srgbClr val="00B050"/>
              </a:solidFill>
            </a:endParaRPr>
          </a:p>
          <a:p>
            <a:pPr lvl="1"/>
            <a:r>
              <a:rPr lang="en-US" sz="1200" dirty="0"/>
              <a:t>Design level requirements:</a:t>
            </a:r>
          </a:p>
          <a:p>
            <a:pPr lvl="2"/>
            <a:r>
              <a:rPr lang="en-US" sz="1200" dirty="0"/>
              <a:t>Design Schematics – </a:t>
            </a:r>
            <a:r>
              <a:rPr lang="en-US" sz="1200" i="1" dirty="0">
                <a:solidFill>
                  <a:srgbClr val="00B050"/>
                </a:solidFill>
              </a:rPr>
              <a:t>mature</a:t>
            </a:r>
          </a:p>
          <a:p>
            <a:pPr lvl="2"/>
            <a:r>
              <a:rPr lang="en-US" sz="1200" dirty="0"/>
              <a:t>Tech Stack – </a:t>
            </a:r>
            <a:r>
              <a:rPr lang="en-US" sz="1200" i="1" dirty="0">
                <a:solidFill>
                  <a:srgbClr val="00B050"/>
                </a:solidFill>
              </a:rPr>
              <a:t>mature</a:t>
            </a:r>
            <a:br>
              <a:rPr lang="en-US" sz="1200" i="1" dirty="0">
                <a:solidFill>
                  <a:srgbClr val="C00000"/>
                </a:solidFill>
              </a:rPr>
            </a:br>
            <a:br>
              <a:rPr lang="en-US" sz="1200" i="1" dirty="0">
                <a:solidFill>
                  <a:srgbClr val="C00000"/>
                </a:solidFill>
              </a:rPr>
            </a:br>
            <a:r>
              <a:rPr lang="en-US" sz="1200" dirty="0"/>
              <a:t>Development:</a:t>
            </a:r>
          </a:p>
          <a:p>
            <a:pPr lvl="2"/>
            <a:r>
              <a:rPr lang="en-US" sz="1200" dirty="0"/>
              <a:t>Graphical User Interface – </a:t>
            </a:r>
            <a:r>
              <a:rPr lang="en-US" sz="1200" i="1" dirty="0">
                <a:solidFill>
                  <a:srgbClr val="00B050"/>
                </a:solidFill>
              </a:rPr>
              <a:t>mature </a:t>
            </a:r>
          </a:p>
          <a:p>
            <a:pPr lvl="2"/>
            <a:r>
              <a:rPr lang="en-US" sz="1200" dirty="0"/>
              <a:t>LLM development – </a:t>
            </a:r>
            <a:r>
              <a:rPr lang="en-US" sz="1200" i="1" dirty="0">
                <a:solidFill>
                  <a:srgbClr val="FFC000"/>
                </a:solidFill>
              </a:rPr>
              <a:t>development phase</a:t>
            </a:r>
          </a:p>
          <a:p>
            <a:pPr lvl="2"/>
            <a:r>
              <a:rPr lang="en-US" sz="1200" dirty="0"/>
              <a:t>Validity environment testing  – </a:t>
            </a:r>
            <a:r>
              <a:rPr lang="en-US" sz="1200" i="1" dirty="0">
                <a:solidFill>
                  <a:srgbClr val="C00000"/>
                </a:solidFill>
              </a:rPr>
              <a:t>identified later when Open OnDemand gets set up</a:t>
            </a:r>
            <a:br>
              <a:rPr lang="en-US" sz="900" i="1" dirty="0">
                <a:solidFill>
                  <a:srgbClr val="C00000"/>
                </a:solidFill>
              </a:rPr>
            </a:br>
            <a:br>
              <a:rPr lang="en-US" sz="863" dirty="0"/>
            </a:br>
            <a:endParaRPr lang="en-US" sz="975" dirty="0"/>
          </a:p>
          <a:p>
            <a:pPr lvl="1"/>
            <a:endParaRPr lang="en-US" sz="1050" dirty="0"/>
          </a:p>
        </p:txBody>
      </p:sp>
      <p:pic>
        <p:nvPicPr>
          <p:cNvPr id="4" name="Google Shape;125;p25">
            <a:extLst>
              <a:ext uri="{FF2B5EF4-FFF2-40B4-BE49-F238E27FC236}">
                <a16:creationId xmlns:a16="http://schemas.microsoft.com/office/drawing/2014/main" id="{B1205B4E-A8D5-8036-860A-8FC43AD9524F}"/>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883644B-C931-103B-46FB-3E8885AC9322}"/>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CA8515B6-1274-7A0C-D4E1-A529D1F34289}"/>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spTree>
    <p:extLst>
      <p:ext uri="{BB962C8B-B14F-4D97-AF65-F5344CB8AC3E}">
        <p14:creationId xmlns:p14="http://schemas.microsoft.com/office/powerpoint/2010/main" val="3293886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F4A3-DCCC-D701-7234-5F5DD52AC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3DAF3B-4201-903B-FDC0-6B3CF7E1998A}"/>
              </a:ext>
            </a:extLst>
          </p:cNvPr>
          <p:cNvSpPr>
            <a:spLocks noGrp="1"/>
          </p:cNvSpPr>
          <p:nvPr>
            <p:ph type="title"/>
          </p:nvPr>
        </p:nvSpPr>
        <p:spPr/>
        <p:txBody>
          <a:bodyPr lIns="68580" tIns="34290" rIns="68580" bIns="34290" anchor="ctr"/>
          <a:lstStyle/>
          <a:p>
            <a:r>
              <a:rPr lang="en-US" sz="1600" b="1" dirty="0"/>
              <a:t>User Interface: Unified Modeling Language Diagram</a:t>
            </a:r>
          </a:p>
        </p:txBody>
      </p:sp>
      <p:pic>
        <p:nvPicPr>
          <p:cNvPr id="4" name="Google Shape;125;p25">
            <a:extLst>
              <a:ext uri="{FF2B5EF4-FFF2-40B4-BE49-F238E27FC236}">
                <a16:creationId xmlns:a16="http://schemas.microsoft.com/office/drawing/2014/main" id="{34D678A6-889B-3B3A-B02A-D9EADE7A595C}"/>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F86F9920-104C-A1CC-B2E1-D13FB3EE4833}"/>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701087E1-F3E1-8AA8-AF07-A73AB5D8A4C4}"/>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11" name="Picture 10">
            <a:extLst>
              <a:ext uri="{FF2B5EF4-FFF2-40B4-BE49-F238E27FC236}">
                <a16:creationId xmlns:a16="http://schemas.microsoft.com/office/drawing/2014/main" id="{E4F0B1AF-E2AB-CE3D-5568-E741CF1566D3}"/>
              </a:ext>
            </a:extLst>
          </p:cNvPr>
          <p:cNvPicPr>
            <a:picLocks noChangeAspect="1"/>
          </p:cNvPicPr>
          <p:nvPr/>
        </p:nvPicPr>
        <p:blipFill>
          <a:blip r:embed="rId5"/>
          <a:stretch>
            <a:fillRect/>
          </a:stretch>
        </p:blipFill>
        <p:spPr>
          <a:xfrm>
            <a:off x="2096932" y="612440"/>
            <a:ext cx="5524028" cy="4170422"/>
          </a:xfrm>
          <a:prstGeom prst="rect">
            <a:avLst/>
          </a:prstGeom>
        </p:spPr>
      </p:pic>
      <p:sp>
        <p:nvSpPr>
          <p:cNvPr id="12" name="TextBox 11">
            <a:extLst>
              <a:ext uri="{FF2B5EF4-FFF2-40B4-BE49-F238E27FC236}">
                <a16:creationId xmlns:a16="http://schemas.microsoft.com/office/drawing/2014/main" id="{DB4DD35B-ED62-66D7-3E47-AC75355F8FAA}"/>
              </a:ext>
            </a:extLst>
          </p:cNvPr>
          <p:cNvSpPr txBox="1"/>
          <p:nvPr/>
        </p:nvSpPr>
        <p:spPr>
          <a:xfrm>
            <a:off x="815166" y="802199"/>
            <a:ext cx="2563532" cy="307777"/>
          </a:xfrm>
          <a:prstGeom prst="rect">
            <a:avLst/>
          </a:prstGeom>
          <a:noFill/>
        </p:spPr>
        <p:txBody>
          <a:bodyPr wrap="square" rtlCol="0">
            <a:spAutoFit/>
          </a:bodyPr>
          <a:lstStyle/>
          <a:p>
            <a:r>
              <a:rPr lang="en-US" dirty="0" err="1"/>
              <a:t>function_minimization</a:t>
            </a:r>
            <a:r>
              <a:rPr lang="en-US" dirty="0"/>
              <a:t> </a:t>
            </a:r>
          </a:p>
        </p:txBody>
      </p:sp>
    </p:spTree>
    <p:extLst>
      <p:ext uri="{BB962C8B-B14F-4D97-AF65-F5344CB8AC3E}">
        <p14:creationId xmlns:p14="http://schemas.microsoft.com/office/powerpoint/2010/main" val="3423682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6673-FB80-D8CF-4B11-9FEB91C02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EE846B-1968-C2C5-4BB4-1282AA92AF58}"/>
              </a:ext>
            </a:extLst>
          </p:cNvPr>
          <p:cNvSpPr>
            <a:spLocks noGrp="1"/>
          </p:cNvSpPr>
          <p:nvPr>
            <p:ph type="title"/>
          </p:nvPr>
        </p:nvSpPr>
        <p:spPr/>
        <p:txBody>
          <a:bodyPr lIns="68580" tIns="34290" rIns="68580" bIns="34290" anchor="ctr"/>
          <a:lstStyle/>
          <a:p>
            <a:r>
              <a:rPr lang="en-US" sz="1600" b="1" dirty="0" err="1"/>
              <a:t>OpenEvolve</a:t>
            </a:r>
            <a:r>
              <a:rPr lang="en-US" sz="1600" b="1" dirty="0"/>
              <a:t>: Maximum Subarray Sum</a:t>
            </a:r>
          </a:p>
        </p:txBody>
      </p:sp>
      <p:pic>
        <p:nvPicPr>
          <p:cNvPr id="4" name="Google Shape;125;p25">
            <a:extLst>
              <a:ext uri="{FF2B5EF4-FFF2-40B4-BE49-F238E27FC236}">
                <a16:creationId xmlns:a16="http://schemas.microsoft.com/office/drawing/2014/main" id="{E3B76DE9-AD99-F481-ECFE-1E9268D44C31}"/>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FBC4C290-6A26-8825-99F3-C507387103B9}"/>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F7E5F1D4-CD33-B378-C628-0041D491645C}"/>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097B9DD0-63E7-CB22-E515-DD605273B747}"/>
              </a:ext>
            </a:extLst>
          </p:cNvPr>
          <p:cNvPicPr>
            <a:picLocks noChangeAspect="1"/>
          </p:cNvPicPr>
          <p:nvPr/>
        </p:nvPicPr>
        <p:blipFill>
          <a:blip r:embed="rId5"/>
          <a:stretch>
            <a:fillRect/>
          </a:stretch>
        </p:blipFill>
        <p:spPr>
          <a:xfrm>
            <a:off x="2018489" y="755082"/>
            <a:ext cx="5107021" cy="3469484"/>
          </a:xfrm>
          <a:prstGeom prst="rect">
            <a:avLst/>
          </a:prstGeom>
        </p:spPr>
      </p:pic>
    </p:spTree>
    <p:extLst>
      <p:ext uri="{BB962C8B-B14F-4D97-AF65-F5344CB8AC3E}">
        <p14:creationId xmlns:p14="http://schemas.microsoft.com/office/powerpoint/2010/main" val="451278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8EFC-2CD1-22F9-7FA7-BC4B0FA42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D9C3A-767C-B95F-BFC1-3C71E06424B9}"/>
              </a:ext>
            </a:extLst>
          </p:cNvPr>
          <p:cNvSpPr>
            <a:spLocks noGrp="1"/>
          </p:cNvSpPr>
          <p:nvPr>
            <p:ph type="title"/>
          </p:nvPr>
        </p:nvSpPr>
        <p:spPr/>
        <p:txBody>
          <a:bodyPr lIns="68580" tIns="34290" rIns="68580" bIns="34290" anchor="ctr"/>
          <a:lstStyle/>
          <a:p>
            <a:r>
              <a:rPr lang="en-US" sz="1600" b="1" dirty="0" err="1"/>
              <a:t>OpenEvolve</a:t>
            </a:r>
            <a:r>
              <a:rPr lang="en-US" sz="1600" b="1" dirty="0"/>
              <a:t>: Inputs</a:t>
            </a:r>
          </a:p>
        </p:txBody>
      </p:sp>
      <p:pic>
        <p:nvPicPr>
          <p:cNvPr id="4" name="Google Shape;125;p25">
            <a:extLst>
              <a:ext uri="{FF2B5EF4-FFF2-40B4-BE49-F238E27FC236}">
                <a16:creationId xmlns:a16="http://schemas.microsoft.com/office/drawing/2014/main" id="{644E5C45-A2F3-13D5-470D-4354F14AAD0B}"/>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4F73E91-8922-A67D-D590-0BC0FAAD5B2B}"/>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6A36407A-1CAA-7EB4-FBA1-E0FC7EB3F728}"/>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9" name="Picture 8">
            <a:extLst>
              <a:ext uri="{FF2B5EF4-FFF2-40B4-BE49-F238E27FC236}">
                <a16:creationId xmlns:a16="http://schemas.microsoft.com/office/drawing/2014/main" id="{5A34D802-3F9D-1933-3F32-BC9D28A39284}"/>
              </a:ext>
            </a:extLst>
          </p:cNvPr>
          <p:cNvPicPr>
            <a:picLocks noChangeAspect="1"/>
          </p:cNvPicPr>
          <p:nvPr/>
        </p:nvPicPr>
        <p:blipFill>
          <a:blip r:embed="rId5"/>
          <a:stretch>
            <a:fillRect/>
          </a:stretch>
        </p:blipFill>
        <p:spPr>
          <a:xfrm>
            <a:off x="1538547" y="906913"/>
            <a:ext cx="6066906" cy="3329674"/>
          </a:xfrm>
          <a:prstGeom prst="rect">
            <a:avLst/>
          </a:prstGeom>
        </p:spPr>
      </p:pic>
    </p:spTree>
    <p:extLst>
      <p:ext uri="{BB962C8B-B14F-4D97-AF65-F5344CB8AC3E}">
        <p14:creationId xmlns:p14="http://schemas.microsoft.com/office/powerpoint/2010/main" val="1700877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91063-3957-C7DD-155E-A82F05A56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9551C-8FD5-4AA0-B170-96C86FB8C4E6}"/>
              </a:ext>
            </a:extLst>
          </p:cNvPr>
          <p:cNvSpPr>
            <a:spLocks noGrp="1"/>
          </p:cNvSpPr>
          <p:nvPr>
            <p:ph type="title"/>
          </p:nvPr>
        </p:nvSpPr>
        <p:spPr>
          <a:xfrm>
            <a:off x="207170" y="44261"/>
            <a:ext cx="7341339" cy="351234"/>
          </a:xfrm>
        </p:spPr>
        <p:txBody>
          <a:bodyPr lIns="68580" tIns="34290" rIns="68580" bIns="34290" anchor="ctr"/>
          <a:lstStyle/>
          <a:p>
            <a:r>
              <a:rPr lang="en-US" sz="1600" b="1" dirty="0" err="1"/>
              <a:t>OpenEvolve</a:t>
            </a:r>
            <a:r>
              <a:rPr lang="en-US" sz="1600" b="1" dirty="0"/>
              <a:t>: Islands</a:t>
            </a:r>
          </a:p>
        </p:txBody>
      </p:sp>
      <p:pic>
        <p:nvPicPr>
          <p:cNvPr id="4" name="Google Shape;125;p25">
            <a:extLst>
              <a:ext uri="{FF2B5EF4-FFF2-40B4-BE49-F238E27FC236}">
                <a16:creationId xmlns:a16="http://schemas.microsoft.com/office/drawing/2014/main" id="{0C1696DD-FFBD-229D-BAEB-9EF21D136DB2}"/>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4663B18D-94A3-80E8-9A1B-C1F08F60D9CA}"/>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A3CEC2D1-C630-CB52-94E9-E81B8E5FCDB6}"/>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E99C9321-AD8A-9263-CEF1-720DAF8658CC}"/>
              </a:ext>
            </a:extLst>
          </p:cNvPr>
          <p:cNvPicPr>
            <a:picLocks noChangeAspect="1"/>
          </p:cNvPicPr>
          <p:nvPr/>
        </p:nvPicPr>
        <p:blipFill>
          <a:blip r:embed="rId5"/>
          <a:stretch>
            <a:fillRect/>
          </a:stretch>
        </p:blipFill>
        <p:spPr>
          <a:xfrm>
            <a:off x="1997770" y="1193370"/>
            <a:ext cx="6147067" cy="2631753"/>
          </a:xfrm>
          <a:prstGeom prst="rect">
            <a:avLst/>
          </a:prstGeom>
        </p:spPr>
      </p:pic>
    </p:spTree>
    <p:extLst>
      <p:ext uri="{BB962C8B-B14F-4D97-AF65-F5344CB8AC3E}">
        <p14:creationId xmlns:p14="http://schemas.microsoft.com/office/powerpoint/2010/main" val="2228291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D21AA-40A7-6C30-9CCB-8037DC290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3443A-F8DA-A0CA-4629-00CAB8796582}"/>
              </a:ext>
            </a:extLst>
          </p:cNvPr>
          <p:cNvSpPr>
            <a:spLocks noGrp="1"/>
          </p:cNvSpPr>
          <p:nvPr>
            <p:ph type="title"/>
          </p:nvPr>
        </p:nvSpPr>
        <p:spPr/>
        <p:txBody>
          <a:bodyPr lIns="68580" tIns="34290" rIns="68580" bIns="34290" anchor="ctr"/>
          <a:lstStyle/>
          <a:p>
            <a:r>
              <a:rPr lang="en-US" sz="1600" b="1" dirty="0" err="1"/>
              <a:t>OpenEvolve</a:t>
            </a:r>
            <a:r>
              <a:rPr lang="en-US" sz="1600" b="1" dirty="0"/>
              <a:t>: Evolutions</a:t>
            </a:r>
          </a:p>
        </p:txBody>
      </p:sp>
      <p:pic>
        <p:nvPicPr>
          <p:cNvPr id="4" name="Google Shape;125;p25">
            <a:extLst>
              <a:ext uri="{FF2B5EF4-FFF2-40B4-BE49-F238E27FC236}">
                <a16:creationId xmlns:a16="http://schemas.microsoft.com/office/drawing/2014/main" id="{ED96EFEB-270A-CA6B-1A0F-D57B33D94C7D}"/>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B29D46BE-F3C5-C578-B9CF-38790B43A51D}"/>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C4B5A22F-ACD7-75B3-3E5A-99F9A76D2FE9}"/>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9" name="Picture 8">
            <a:extLst>
              <a:ext uri="{FF2B5EF4-FFF2-40B4-BE49-F238E27FC236}">
                <a16:creationId xmlns:a16="http://schemas.microsoft.com/office/drawing/2014/main" id="{BBC6013E-926F-6D32-0A14-2215723C0837}"/>
              </a:ext>
            </a:extLst>
          </p:cNvPr>
          <p:cNvPicPr>
            <a:picLocks noChangeAspect="1"/>
          </p:cNvPicPr>
          <p:nvPr/>
        </p:nvPicPr>
        <p:blipFill>
          <a:blip r:embed="rId5"/>
          <a:stretch>
            <a:fillRect/>
          </a:stretch>
        </p:blipFill>
        <p:spPr>
          <a:xfrm>
            <a:off x="1192726" y="999345"/>
            <a:ext cx="6758547" cy="3270030"/>
          </a:xfrm>
          <a:prstGeom prst="rect">
            <a:avLst/>
          </a:prstGeom>
        </p:spPr>
      </p:pic>
    </p:spTree>
    <p:extLst>
      <p:ext uri="{BB962C8B-B14F-4D97-AF65-F5344CB8AC3E}">
        <p14:creationId xmlns:p14="http://schemas.microsoft.com/office/powerpoint/2010/main" val="2191998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5D30D-887D-194C-8074-7F8DB53099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97AAE-4DB2-9F77-375F-20C0CF6F313F}"/>
              </a:ext>
            </a:extLst>
          </p:cNvPr>
          <p:cNvSpPr>
            <a:spLocks noGrp="1"/>
          </p:cNvSpPr>
          <p:nvPr>
            <p:ph type="title"/>
          </p:nvPr>
        </p:nvSpPr>
        <p:spPr/>
        <p:txBody>
          <a:bodyPr lIns="68580" tIns="34290" rIns="68580" bIns="34290" anchor="ctr"/>
          <a:lstStyle/>
          <a:p>
            <a:r>
              <a:rPr lang="en-US" sz="1600" b="1" dirty="0" err="1"/>
              <a:t>OpenEvolve</a:t>
            </a:r>
            <a:r>
              <a:rPr lang="en-US" sz="1600" b="1" dirty="0"/>
              <a:t>: Outputs</a:t>
            </a:r>
          </a:p>
        </p:txBody>
      </p:sp>
      <p:pic>
        <p:nvPicPr>
          <p:cNvPr id="4" name="Google Shape;125;p25">
            <a:extLst>
              <a:ext uri="{FF2B5EF4-FFF2-40B4-BE49-F238E27FC236}">
                <a16:creationId xmlns:a16="http://schemas.microsoft.com/office/drawing/2014/main" id="{B31DF4B4-7A6D-EC71-A768-9BD0E76FB7A3}"/>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95856068-B945-D54E-C9C1-762884A3A54A}"/>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F5DD4F99-9402-5AEB-B0FB-D190C698A739}"/>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8" name="Picture 7">
            <a:extLst>
              <a:ext uri="{FF2B5EF4-FFF2-40B4-BE49-F238E27FC236}">
                <a16:creationId xmlns:a16="http://schemas.microsoft.com/office/drawing/2014/main" id="{BDF19E9F-6AD9-EA60-FB77-7BD5A0520764}"/>
              </a:ext>
            </a:extLst>
          </p:cNvPr>
          <p:cNvPicPr>
            <a:picLocks noChangeAspect="1"/>
          </p:cNvPicPr>
          <p:nvPr/>
        </p:nvPicPr>
        <p:blipFill>
          <a:blip r:embed="rId5"/>
          <a:stretch>
            <a:fillRect/>
          </a:stretch>
        </p:blipFill>
        <p:spPr>
          <a:xfrm>
            <a:off x="2273002" y="561453"/>
            <a:ext cx="4475050" cy="2010297"/>
          </a:xfrm>
          <a:prstGeom prst="rect">
            <a:avLst/>
          </a:prstGeom>
        </p:spPr>
      </p:pic>
      <p:pic>
        <p:nvPicPr>
          <p:cNvPr id="11" name="Picture 10">
            <a:extLst>
              <a:ext uri="{FF2B5EF4-FFF2-40B4-BE49-F238E27FC236}">
                <a16:creationId xmlns:a16="http://schemas.microsoft.com/office/drawing/2014/main" id="{6CE34E04-0751-E1FD-E07D-BA029A72653B}"/>
              </a:ext>
            </a:extLst>
          </p:cNvPr>
          <p:cNvPicPr>
            <a:picLocks noChangeAspect="1"/>
          </p:cNvPicPr>
          <p:nvPr/>
        </p:nvPicPr>
        <p:blipFill>
          <a:blip r:embed="rId6"/>
          <a:stretch>
            <a:fillRect/>
          </a:stretch>
        </p:blipFill>
        <p:spPr>
          <a:xfrm>
            <a:off x="2984833" y="2440137"/>
            <a:ext cx="3075963" cy="2331939"/>
          </a:xfrm>
          <a:prstGeom prst="rect">
            <a:avLst/>
          </a:prstGeom>
        </p:spPr>
      </p:pic>
    </p:spTree>
    <p:extLst>
      <p:ext uri="{BB962C8B-B14F-4D97-AF65-F5344CB8AC3E}">
        <p14:creationId xmlns:p14="http://schemas.microsoft.com/office/powerpoint/2010/main" val="2733897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89850-F956-0BE0-3493-DD2FDE1156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FE37C-08D6-A912-8BB5-F1A8F36A0FF5}"/>
              </a:ext>
            </a:extLst>
          </p:cNvPr>
          <p:cNvSpPr>
            <a:spLocks noGrp="1"/>
          </p:cNvSpPr>
          <p:nvPr>
            <p:ph type="title"/>
          </p:nvPr>
        </p:nvSpPr>
        <p:spPr/>
        <p:txBody>
          <a:bodyPr lIns="68580" tIns="34290" rIns="68580" bIns="34290" anchor="ctr"/>
          <a:lstStyle/>
          <a:p>
            <a:r>
              <a:rPr lang="en-US" sz="1600" b="1" dirty="0"/>
              <a:t>UCT: Diagram</a:t>
            </a:r>
          </a:p>
        </p:txBody>
      </p:sp>
      <p:pic>
        <p:nvPicPr>
          <p:cNvPr id="4" name="Google Shape;125;p25">
            <a:extLst>
              <a:ext uri="{FF2B5EF4-FFF2-40B4-BE49-F238E27FC236}">
                <a16:creationId xmlns:a16="http://schemas.microsoft.com/office/drawing/2014/main" id="{EDCC903B-85A8-5981-4814-8ECBF1CA816B}"/>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C630F781-1288-A4C4-B4F3-61C19EB75FEC}"/>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AFC517D3-56EB-78FD-EC70-49882F3B0893}"/>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10" name="Picture 9">
            <a:extLst>
              <a:ext uri="{FF2B5EF4-FFF2-40B4-BE49-F238E27FC236}">
                <a16:creationId xmlns:a16="http://schemas.microsoft.com/office/drawing/2014/main" id="{7824F0A9-AB28-3B86-3654-820136EE290C}"/>
              </a:ext>
            </a:extLst>
          </p:cNvPr>
          <p:cNvPicPr>
            <a:picLocks noChangeAspect="1"/>
          </p:cNvPicPr>
          <p:nvPr/>
        </p:nvPicPr>
        <p:blipFill>
          <a:blip r:embed="rId5"/>
          <a:stretch>
            <a:fillRect/>
          </a:stretch>
        </p:blipFill>
        <p:spPr>
          <a:xfrm>
            <a:off x="171169" y="547341"/>
            <a:ext cx="1947428" cy="4180147"/>
          </a:xfrm>
          <a:prstGeom prst="rect">
            <a:avLst/>
          </a:prstGeom>
        </p:spPr>
      </p:pic>
      <p:pic>
        <p:nvPicPr>
          <p:cNvPr id="13" name="Picture 12">
            <a:extLst>
              <a:ext uri="{FF2B5EF4-FFF2-40B4-BE49-F238E27FC236}">
                <a16:creationId xmlns:a16="http://schemas.microsoft.com/office/drawing/2014/main" id="{5F046089-F643-D5F2-15F3-35D71D66F8EF}"/>
              </a:ext>
            </a:extLst>
          </p:cNvPr>
          <p:cNvPicPr>
            <a:picLocks noChangeAspect="1"/>
          </p:cNvPicPr>
          <p:nvPr/>
        </p:nvPicPr>
        <p:blipFill>
          <a:blip r:embed="rId6"/>
          <a:stretch>
            <a:fillRect/>
          </a:stretch>
        </p:blipFill>
        <p:spPr>
          <a:xfrm>
            <a:off x="2836809" y="544287"/>
            <a:ext cx="2569500" cy="4091242"/>
          </a:xfrm>
          <a:prstGeom prst="rect">
            <a:avLst/>
          </a:prstGeom>
        </p:spPr>
      </p:pic>
      <p:pic>
        <p:nvPicPr>
          <p:cNvPr id="15" name="Picture 14">
            <a:extLst>
              <a:ext uri="{FF2B5EF4-FFF2-40B4-BE49-F238E27FC236}">
                <a16:creationId xmlns:a16="http://schemas.microsoft.com/office/drawing/2014/main" id="{7929B0CD-9D6F-3003-BE12-B7DDF15A61DC}"/>
              </a:ext>
            </a:extLst>
          </p:cNvPr>
          <p:cNvPicPr>
            <a:picLocks noChangeAspect="1"/>
          </p:cNvPicPr>
          <p:nvPr/>
        </p:nvPicPr>
        <p:blipFill>
          <a:blip r:embed="rId7"/>
          <a:stretch>
            <a:fillRect/>
          </a:stretch>
        </p:blipFill>
        <p:spPr>
          <a:xfrm>
            <a:off x="6124521" y="1781872"/>
            <a:ext cx="2847975" cy="1704975"/>
          </a:xfrm>
          <a:prstGeom prst="rect">
            <a:avLst/>
          </a:prstGeom>
        </p:spPr>
      </p:pic>
    </p:spTree>
    <p:extLst>
      <p:ext uri="{BB962C8B-B14F-4D97-AF65-F5344CB8AC3E}">
        <p14:creationId xmlns:p14="http://schemas.microsoft.com/office/powerpoint/2010/main" val="4237339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9B60-A9B5-9DA4-DEC6-4229BAA92C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71451-A7A4-7775-3585-8E40A4899141}"/>
              </a:ext>
            </a:extLst>
          </p:cNvPr>
          <p:cNvSpPr>
            <a:spLocks noGrp="1"/>
          </p:cNvSpPr>
          <p:nvPr>
            <p:ph type="title"/>
          </p:nvPr>
        </p:nvSpPr>
        <p:spPr/>
        <p:txBody>
          <a:bodyPr lIns="68580" tIns="34290" rIns="68580" bIns="34290" anchor="ctr"/>
          <a:lstStyle/>
          <a:p>
            <a:r>
              <a:rPr lang="en-US" sz="1600" b="1" dirty="0"/>
              <a:t>UCT: Integration</a:t>
            </a:r>
          </a:p>
        </p:txBody>
      </p:sp>
      <p:pic>
        <p:nvPicPr>
          <p:cNvPr id="4" name="Google Shape;125;p25">
            <a:extLst>
              <a:ext uri="{FF2B5EF4-FFF2-40B4-BE49-F238E27FC236}">
                <a16:creationId xmlns:a16="http://schemas.microsoft.com/office/drawing/2014/main" id="{3729E8C6-D36F-2080-16F2-3E88B16FBCC5}"/>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FBAB39F-6755-F03B-E2A2-F300C783EBF9}"/>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9C4F1590-1EAC-BFF8-E3C3-923DDE08274E}"/>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8B09DFA5-28C9-5B53-8250-2551B06D5E1D}"/>
              </a:ext>
            </a:extLst>
          </p:cNvPr>
          <p:cNvPicPr>
            <a:picLocks noChangeAspect="1"/>
          </p:cNvPicPr>
          <p:nvPr/>
        </p:nvPicPr>
        <p:blipFill>
          <a:blip r:embed="rId5"/>
          <a:stretch>
            <a:fillRect/>
          </a:stretch>
        </p:blipFill>
        <p:spPr>
          <a:xfrm>
            <a:off x="1185912" y="569061"/>
            <a:ext cx="7160342" cy="4005377"/>
          </a:xfrm>
          <a:prstGeom prst="rect">
            <a:avLst/>
          </a:prstGeom>
        </p:spPr>
      </p:pic>
    </p:spTree>
    <p:extLst>
      <p:ext uri="{BB962C8B-B14F-4D97-AF65-F5344CB8AC3E}">
        <p14:creationId xmlns:p14="http://schemas.microsoft.com/office/powerpoint/2010/main" val="10032755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B5B0-A969-71D1-CECE-D6E681636C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5C8A6-C291-1249-BD9A-649634183429}"/>
              </a:ext>
            </a:extLst>
          </p:cNvPr>
          <p:cNvSpPr>
            <a:spLocks noGrp="1"/>
          </p:cNvSpPr>
          <p:nvPr>
            <p:ph type="title"/>
          </p:nvPr>
        </p:nvSpPr>
        <p:spPr/>
        <p:txBody>
          <a:bodyPr lIns="68580" tIns="34290" rIns="68580" bIns="34290" anchor="ctr"/>
          <a:lstStyle/>
          <a:p>
            <a:r>
              <a:rPr lang="en-US" sz="1600" b="1" dirty="0"/>
              <a:t>UCT: Orbital Association Metrics</a:t>
            </a:r>
          </a:p>
        </p:txBody>
      </p:sp>
      <p:pic>
        <p:nvPicPr>
          <p:cNvPr id="4" name="Google Shape;125;p25">
            <a:extLst>
              <a:ext uri="{FF2B5EF4-FFF2-40B4-BE49-F238E27FC236}">
                <a16:creationId xmlns:a16="http://schemas.microsoft.com/office/drawing/2014/main" id="{B1CAD44D-84D9-2354-8F39-8D46C9F6EFF9}"/>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A5534821-92B2-BF7F-40F9-238641AA9CF8}"/>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9B1D05CC-88ED-128A-7C53-06726618B1AF}"/>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10" name="Picture 9">
            <a:extLst>
              <a:ext uri="{FF2B5EF4-FFF2-40B4-BE49-F238E27FC236}">
                <a16:creationId xmlns:a16="http://schemas.microsoft.com/office/drawing/2014/main" id="{349FC5BA-2C1C-4289-DC46-4B8FF5590C7A}"/>
              </a:ext>
            </a:extLst>
          </p:cNvPr>
          <p:cNvPicPr>
            <a:picLocks noChangeAspect="1"/>
          </p:cNvPicPr>
          <p:nvPr/>
        </p:nvPicPr>
        <p:blipFill>
          <a:blip r:embed="rId5"/>
          <a:stretch>
            <a:fillRect/>
          </a:stretch>
        </p:blipFill>
        <p:spPr>
          <a:xfrm>
            <a:off x="2208178" y="604859"/>
            <a:ext cx="4885795" cy="4098177"/>
          </a:xfrm>
          <a:prstGeom prst="rect">
            <a:avLst/>
          </a:prstGeom>
        </p:spPr>
      </p:pic>
    </p:spTree>
    <p:extLst>
      <p:ext uri="{BB962C8B-B14F-4D97-AF65-F5344CB8AC3E}">
        <p14:creationId xmlns:p14="http://schemas.microsoft.com/office/powerpoint/2010/main" val="1538185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9B3C-13CE-5124-DC54-0FB86346A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067A0-ACFA-6B9A-849C-ABB158F8B238}"/>
              </a:ext>
            </a:extLst>
          </p:cNvPr>
          <p:cNvSpPr>
            <a:spLocks noGrp="1"/>
          </p:cNvSpPr>
          <p:nvPr>
            <p:ph type="title"/>
          </p:nvPr>
        </p:nvSpPr>
        <p:spPr/>
        <p:txBody>
          <a:bodyPr lIns="68580" tIns="34290" rIns="68580" bIns="34290" anchor="ctr"/>
          <a:lstStyle/>
          <a:p>
            <a:r>
              <a:rPr lang="en-US" sz="1600" b="1" dirty="0"/>
              <a:t>UCT: State Metrics</a:t>
            </a:r>
          </a:p>
        </p:txBody>
      </p:sp>
      <p:pic>
        <p:nvPicPr>
          <p:cNvPr id="4" name="Google Shape;125;p25">
            <a:extLst>
              <a:ext uri="{FF2B5EF4-FFF2-40B4-BE49-F238E27FC236}">
                <a16:creationId xmlns:a16="http://schemas.microsoft.com/office/drawing/2014/main" id="{81AD3293-B92F-F68E-514E-D841604E13AE}"/>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BB487572-CFBF-1365-D4EF-AFBAFC1FC843}"/>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6EF49B0C-267C-ADF0-8089-5E7498159FCD}"/>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35384C3A-EB92-B7AB-B4E4-9522EFC20E99}"/>
              </a:ext>
            </a:extLst>
          </p:cNvPr>
          <p:cNvPicPr>
            <a:picLocks noChangeAspect="1"/>
          </p:cNvPicPr>
          <p:nvPr/>
        </p:nvPicPr>
        <p:blipFill>
          <a:blip r:embed="rId5"/>
          <a:stretch>
            <a:fillRect/>
          </a:stretch>
        </p:blipFill>
        <p:spPr>
          <a:xfrm>
            <a:off x="2465205" y="549568"/>
            <a:ext cx="5083304" cy="4210476"/>
          </a:xfrm>
          <a:prstGeom prst="rect">
            <a:avLst/>
          </a:prstGeom>
        </p:spPr>
      </p:pic>
    </p:spTree>
    <p:extLst>
      <p:ext uri="{BB962C8B-B14F-4D97-AF65-F5344CB8AC3E}">
        <p14:creationId xmlns:p14="http://schemas.microsoft.com/office/powerpoint/2010/main" val="784489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526D3-3FA3-0515-EA47-E179453F18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DD775-6579-E52F-8CCA-CFB69DA849A6}"/>
              </a:ext>
            </a:extLst>
          </p:cNvPr>
          <p:cNvSpPr>
            <a:spLocks noGrp="1"/>
          </p:cNvSpPr>
          <p:nvPr>
            <p:ph type="title"/>
          </p:nvPr>
        </p:nvSpPr>
        <p:spPr/>
        <p:txBody>
          <a:bodyPr lIns="68580" tIns="34290" rIns="68580" bIns="34290" anchor="ctr"/>
          <a:lstStyle/>
          <a:p>
            <a:r>
              <a:rPr lang="en-US" sz="1600" b="1" dirty="0"/>
              <a:t>UCT: Residual Metrics</a:t>
            </a:r>
          </a:p>
        </p:txBody>
      </p:sp>
      <p:pic>
        <p:nvPicPr>
          <p:cNvPr id="4" name="Google Shape;125;p25">
            <a:extLst>
              <a:ext uri="{FF2B5EF4-FFF2-40B4-BE49-F238E27FC236}">
                <a16:creationId xmlns:a16="http://schemas.microsoft.com/office/drawing/2014/main" id="{09214731-1CF5-4ABC-1E67-ACC9C7330DF1}"/>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40D8E43C-E70B-A2DA-D167-00BFAE9A4387}"/>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1F86827D-571E-01C2-D168-6315021C0AAB}"/>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CA2C40C0-A7C7-31BA-7B8B-E85C10F84D19}"/>
              </a:ext>
            </a:extLst>
          </p:cNvPr>
          <p:cNvPicPr>
            <a:picLocks noChangeAspect="1"/>
          </p:cNvPicPr>
          <p:nvPr/>
        </p:nvPicPr>
        <p:blipFill>
          <a:blip r:embed="rId5"/>
          <a:stretch>
            <a:fillRect/>
          </a:stretch>
        </p:blipFill>
        <p:spPr>
          <a:xfrm>
            <a:off x="2497308" y="594857"/>
            <a:ext cx="4915292" cy="4119897"/>
          </a:xfrm>
          <a:prstGeom prst="rect">
            <a:avLst/>
          </a:prstGeom>
        </p:spPr>
      </p:pic>
    </p:spTree>
    <p:extLst>
      <p:ext uri="{BB962C8B-B14F-4D97-AF65-F5344CB8AC3E}">
        <p14:creationId xmlns:p14="http://schemas.microsoft.com/office/powerpoint/2010/main" val="1484872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70314-1B0A-7869-5DC8-48ED31A4E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036DD-12EE-11FF-AA5C-3EE149B8C269}"/>
              </a:ext>
            </a:extLst>
          </p:cNvPr>
          <p:cNvSpPr>
            <a:spLocks noGrp="1"/>
          </p:cNvSpPr>
          <p:nvPr>
            <p:ph type="title"/>
          </p:nvPr>
        </p:nvSpPr>
        <p:spPr/>
        <p:txBody>
          <a:bodyPr lIns="68580" tIns="34290" rIns="68580" bIns="34290" anchor="ctr"/>
          <a:lstStyle/>
          <a:p>
            <a:r>
              <a:rPr lang="en-US" sz="1600" b="1" dirty="0"/>
              <a:t>UCT: Binary Metrics</a:t>
            </a:r>
          </a:p>
        </p:txBody>
      </p:sp>
      <p:pic>
        <p:nvPicPr>
          <p:cNvPr id="4" name="Google Shape;125;p25">
            <a:extLst>
              <a:ext uri="{FF2B5EF4-FFF2-40B4-BE49-F238E27FC236}">
                <a16:creationId xmlns:a16="http://schemas.microsoft.com/office/drawing/2014/main" id="{46204B49-6A21-B53E-1220-65247C00E1EB}"/>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E3997702-1ECA-F82B-3ED8-5935A9559D5D}"/>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B88E60F1-2AF8-BEC6-A466-36B89E08B2C1}"/>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7" name="Picture 6">
            <a:extLst>
              <a:ext uri="{FF2B5EF4-FFF2-40B4-BE49-F238E27FC236}">
                <a16:creationId xmlns:a16="http://schemas.microsoft.com/office/drawing/2014/main" id="{66B2E937-FE11-7838-440F-7DD990029933}"/>
              </a:ext>
            </a:extLst>
          </p:cNvPr>
          <p:cNvPicPr>
            <a:picLocks noChangeAspect="1"/>
          </p:cNvPicPr>
          <p:nvPr/>
        </p:nvPicPr>
        <p:blipFill>
          <a:blip r:embed="rId5"/>
          <a:stretch>
            <a:fillRect/>
          </a:stretch>
        </p:blipFill>
        <p:spPr>
          <a:xfrm>
            <a:off x="2726052" y="597722"/>
            <a:ext cx="4690504" cy="4222482"/>
          </a:xfrm>
          <a:prstGeom prst="rect">
            <a:avLst/>
          </a:prstGeom>
        </p:spPr>
      </p:pic>
    </p:spTree>
    <p:extLst>
      <p:ext uri="{BB962C8B-B14F-4D97-AF65-F5344CB8AC3E}">
        <p14:creationId xmlns:p14="http://schemas.microsoft.com/office/powerpoint/2010/main" val="138652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75EF-34E2-247B-6969-05E9448FE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3079E0-7B2F-3643-9526-0E69169D0956}"/>
              </a:ext>
            </a:extLst>
          </p:cNvPr>
          <p:cNvSpPr>
            <a:spLocks noGrp="1"/>
          </p:cNvSpPr>
          <p:nvPr>
            <p:ph type="title"/>
          </p:nvPr>
        </p:nvSpPr>
        <p:spPr/>
        <p:txBody>
          <a:bodyPr lIns="68580" tIns="34290" rIns="68580" bIns="34290" anchor="ctr"/>
          <a:lstStyle/>
          <a:p>
            <a:r>
              <a:rPr lang="en-US" sz="1600" b="1" dirty="0"/>
              <a:t>UCT: </a:t>
            </a:r>
            <a:r>
              <a:rPr lang="en-US" sz="1600" b="1" dirty="0" err="1"/>
              <a:t>OpenEvolve</a:t>
            </a:r>
            <a:r>
              <a:rPr lang="en-US" sz="1600" b="1" dirty="0"/>
              <a:t> Proposal</a:t>
            </a:r>
          </a:p>
        </p:txBody>
      </p:sp>
      <p:pic>
        <p:nvPicPr>
          <p:cNvPr id="4" name="Google Shape;125;p25">
            <a:extLst>
              <a:ext uri="{FF2B5EF4-FFF2-40B4-BE49-F238E27FC236}">
                <a16:creationId xmlns:a16="http://schemas.microsoft.com/office/drawing/2014/main" id="{95A2AF39-A15A-BB2A-BCCB-40DBE18084E6}"/>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5676DCB7-345A-CFE2-F726-9AA27C56B463}"/>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A2754D71-381C-0B18-595E-AD4F7F39D60D}"/>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8" name="Picture 7">
            <a:extLst>
              <a:ext uri="{FF2B5EF4-FFF2-40B4-BE49-F238E27FC236}">
                <a16:creationId xmlns:a16="http://schemas.microsoft.com/office/drawing/2014/main" id="{46D2EC35-02F6-2E26-F48A-A10D3361C3E8}"/>
              </a:ext>
            </a:extLst>
          </p:cNvPr>
          <p:cNvPicPr>
            <a:picLocks noChangeAspect="1"/>
          </p:cNvPicPr>
          <p:nvPr/>
        </p:nvPicPr>
        <p:blipFill>
          <a:blip r:embed="rId5"/>
          <a:stretch>
            <a:fillRect/>
          </a:stretch>
        </p:blipFill>
        <p:spPr>
          <a:xfrm>
            <a:off x="1747838" y="1448044"/>
            <a:ext cx="5648325" cy="2171700"/>
          </a:xfrm>
          <a:prstGeom prst="rect">
            <a:avLst/>
          </a:prstGeom>
        </p:spPr>
      </p:pic>
      <p:pic>
        <p:nvPicPr>
          <p:cNvPr id="10" name="Picture 9">
            <a:extLst>
              <a:ext uri="{FF2B5EF4-FFF2-40B4-BE49-F238E27FC236}">
                <a16:creationId xmlns:a16="http://schemas.microsoft.com/office/drawing/2014/main" id="{9D7CC6CD-5441-37E8-6C17-EB9456BFEE10}"/>
              </a:ext>
            </a:extLst>
          </p:cNvPr>
          <p:cNvPicPr>
            <a:picLocks noChangeAspect="1"/>
          </p:cNvPicPr>
          <p:nvPr/>
        </p:nvPicPr>
        <p:blipFill>
          <a:blip r:embed="rId6"/>
          <a:stretch>
            <a:fillRect/>
          </a:stretch>
        </p:blipFill>
        <p:spPr>
          <a:xfrm>
            <a:off x="1995487" y="3619744"/>
            <a:ext cx="5400675" cy="1123950"/>
          </a:xfrm>
          <a:prstGeom prst="rect">
            <a:avLst/>
          </a:prstGeom>
        </p:spPr>
      </p:pic>
      <p:pic>
        <p:nvPicPr>
          <p:cNvPr id="7" name="Picture 6">
            <a:extLst>
              <a:ext uri="{FF2B5EF4-FFF2-40B4-BE49-F238E27FC236}">
                <a16:creationId xmlns:a16="http://schemas.microsoft.com/office/drawing/2014/main" id="{393887D4-6721-F838-7599-6434454B0DE9}"/>
              </a:ext>
            </a:extLst>
          </p:cNvPr>
          <p:cNvPicPr>
            <a:picLocks noChangeAspect="1"/>
          </p:cNvPicPr>
          <p:nvPr/>
        </p:nvPicPr>
        <p:blipFill>
          <a:blip r:embed="rId7"/>
          <a:stretch>
            <a:fillRect/>
          </a:stretch>
        </p:blipFill>
        <p:spPr>
          <a:xfrm>
            <a:off x="2068420" y="557685"/>
            <a:ext cx="5007159" cy="941233"/>
          </a:xfrm>
          <a:prstGeom prst="rect">
            <a:avLst/>
          </a:prstGeom>
        </p:spPr>
      </p:pic>
    </p:spTree>
    <p:extLst>
      <p:ext uri="{BB962C8B-B14F-4D97-AF65-F5344CB8AC3E}">
        <p14:creationId xmlns:p14="http://schemas.microsoft.com/office/powerpoint/2010/main" val="596004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0FF10-1F58-E437-A397-6936543A6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22807-CDAB-F69E-EF4A-6C0FE453E27C}"/>
              </a:ext>
            </a:extLst>
          </p:cNvPr>
          <p:cNvSpPr>
            <a:spLocks noGrp="1"/>
          </p:cNvSpPr>
          <p:nvPr>
            <p:ph type="title"/>
          </p:nvPr>
        </p:nvSpPr>
        <p:spPr/>
        <p:txBody>
          <a:bodyPr lIns="68580" tIns="34290" rIns="68580" bIns="34290" anchor="ctr"/>
          <a:lstStyle/>
          <a:p>
            <a:r>
              <a:rPr lang="en-US" sz="1600" b="1" dirty="0"/>
              <a:t>UCT: Questions to Ponder</a:t>
            </a:r>
          </a:p>
        </p:txBody>
      </p:sp>
      <p:pic>
        <p:nvPicPr>
          <p:cNvPr id="4" name="Google Shape;125;p25">
            <a:extLst>
              <a:ext uri="{FF2B5EF4-FFF2-40B4-BE49-F238E27FC236}">
                <a16:creationId xmlns:a16="http://schemas.microsoft.com/office/drawing/2014/main" id="{5D390041-B93F-1B14-9A58-F5C258995597}"/>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AC1F82E1-EF32-0383-06DE-71E8B2D37232}"/>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C627C472-795A-12A6-7C45-15E92BB95734}"/>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sp>
        <p:nvSpPr>
          <p:cNvPr id="3" name="TextBox 2">
            <a:extLst>
              <a:ext uri="{FF2B5EF4-FFF2-40B4-BE49-F238E27FC236}">
                <a16:creationId xmlns:a16="http://schemas.microsoft.com/office/drawing/2014/main" id="{0BB24925-7FFC-51CD-490D-7948062EAC80}"/>
              </a:ext>
            </a:extLst>
          </p:cNvPr>
          <p:cNvSpPr txBox="1"/>
          <p:nvPr/>
        </p:nvSpPr>
        <p:spPr>
          <a:xfrm>
            <a:off x="437662" y="875323"/>
            <a:ext cx="8362680" cy="2031325"/>
          </a:xfrm>
          <a:prstGeom prst="rect">
            <a:avLst/>
          </a:prstGeom>
          <a:noFill/>
        </p:spPr>
        <p:txBody>
          <a:bodyPr wrap="square" rtlCol="0">
            <a:spAutoFit/>
          </a:bodyPr>
          <a:lstStyle/>
          <a:p>
            <a:r>
              <a:rPr lang="en-US" sz="1800" b="1" dirty="0"/>
              <a:t>Are we using </a:t>
            </a:r>
            <a:r>
              <a:rPr lang="en-US" sz="1800" b="1" dirty="0" err="1"/>
              <a:t>OpenEvolve</a:t>
            </a:r>
            <a:r>
              <a:rPr lang="en-US" sz="1800" b="1" dirty="0"/>
              <a:t> on a small-scale where we’re already mutating from already existing algorithms used by UCTP to optimize and find better algorithms.</a:t>
            </a:r>
          </a:p>
          <a:p>
            <a:endParaRPr lang="en-US" sz="1800" b="1" dirty="0"/>
          </a:p>
          <a:p>
            <a:r>
              <a:rPr lang="en-US" sz="1800" b="1" dirty="0"/>
              <a:t>Are we using </a:t>
            </a:r>
            <a:r>
              <a:rPr lang="en-US" sz="1800" b="1" dirty="0" err="1"/>
              <a:t>OpenEvolve</a:t>
            </a:r>
            <a:r>
              <a:rPr lang="en-US" sz="1800" b="1" dirty="0"/>
              <a:t> on a larger-scale where we have a dynamic benchmarking system between </a:t>
            </a:r>
            <a:r>
              <a:rPr lang="en-US" sz="1800" b="1" dirty="0" err="1"/>
              <a:t>OpenEvolve</a:t>
            </a:r>
            <a:r>
              <a:rPr lang="en-US" sz="1800" b="1" dirty="0"/>
              <a:t> and UCTP as new data comes in where the algorithm is always mutating?</a:t>
            </a:r>
          </a:p>
        </p:txBody>
      </p:sp>
    </p:spTree>
    <p:extLst>
      <p:ext uri="{BB962C8B-B14F-4D97-AF65-F5344CB8AC3E}">
        <p14:creationId xmlns:p14="http://schemas.microsoft.com/office/powerpoint/2010/main" val="2836765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53A39-91CC-A3C9-64EB-34D36FA3E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E5D68B-8DA3-2ABC-05C8-D9F12918CB32}"/>
              </a:ext>
            </a:extLst>
          </p:cNvPr>
          <p:cNvSpPr>
            <a:spLocks noGrp="1"/>
          </p:cNvSpPr>
          <p:nvPr>
            <p:ph type="title"/>
          </p:nvPr>
        </p:nvSpPr>
        <p:spPr/>
        <p:txBody>
          <a:bodyPr lIns="68580" tIns="34290" rIns="68580" bIns="34290" anchor="ctr"/>
          <a:lstStyle/>
          <a:p>
            <a:r>
              <a:rPr lang="en-US" sz="1600" b="1" dirty="0"/>
              <a:t>UCT: Benchmarking</a:t>
            </a:r>
          </a:p>
        </p:txBody>
      </p:sp>
      <p:pic>
        <p:nvPicPr>
          <p:cNvPr id="4" name="Google Shape;125;p25">
            <a:extLst>
              <a:ext uri="{FF2B5EF4-FFF2-40B4-BE49-F238E27FC236}">
                <a16:creationId xmlns:a16="http://schemas.microsoft.com/office/drawing/2014/main" id="{4DE265C1-7F39-3147-F33E-79D3C4343989}"/>
              </a:ext>
            </a:extLst>
          </p:cNvPr>
          <p:cNvPicPr preferRelativeResize="0"/>
          <p:nvPr/>
        </p:nvPicPr>
        <p:blipFill rotWithShape="1">
          <a:blip r:embed="rId3">
            <a:alphaModFix/>
          </a:blip>
          <a:srcRect/>
          <a:stretch/>
        </p:blipFill>
        <p:spPr>
          <a:xfrm>
            <a:off x="343660" y="4861094"/>
            <a:ext cx="3729038" cy="271463"/>
          </a:xfrm>
          <a:prstGeom prst="rect">
            <a:avLst/>
          </a:prstGeom>
          <a:noFill/>
          <a:ln>
            <a:noFill/>
          </a:ln>
        </p:spPr>
      </p:pic>
      <p:pic>
        <p:nvPicPr>
          <p:cNvPr id="5" name="Google Shape;126;p25">
            <a:extLst>
              <a:ext uri="{FF2B5EF4-FFF2-40B4-BE49-F238E27FC236}">
                <a16:creationId xmlns:a16="http://schemas.microsoft.com/office/drawing/2014/main" id="{0C737F1D-36AE-B8A5-EE3D-BEAD53F22170}"/>
              </a:ext>
            </a:extLst>
          </p:cNvPr>
          <p:cNvPicPr preferRelativeResize="0"/>
          <p:nvPr/>
        </p:nvPicPr>
        <p:blipFill rotWithShape="1">
          <a:blip r:embed="rId3">
            <a:alphaModFix/>
          </a:blip>
          <a:srcRect/>
          <a:stretch/>
        </p:blipFill>
        <p:spPr>
          <a:xfrm>
            <a:off x="5071304" y="4861094"/>
            <a:ext cx="3729038" cy="271463"/>
          </a:xfrm>
          <a:prstGeom prst="rect">
            <a:avLst/>
          </a:prstGeom>
          <a:noFill/>
          <a:ln>
            <a:noFill/>
          </a:ln>
        </p:spPr>
      </p:pic>
      <p:pic>
        <p:nvPicPr>
          <p:cNvPr id="6" name="Google Shape;116;p24">
            <a:extLst>
              <a:ext uri="{FF2B5EF4-FFF2-40B4-BE49-F238E27FC236}">
                <a16:creationId xmlns:a16="http://schemas.microsoft.com/office/drawing/2014/main" id="{8959A32B-EF81-D802-6DD2-F258D3B61D3A}"/>
              </a:ext>
            </a:extLst>
          </p:cNvPr>
          <p:cNvPicPr preferRelativeResize="0"/>
          <p:nvPr/>
        </p:nvPicPr>
        <p:blipFill rotWithShape="1">
          <a:blip r:embed="rId4">
            <a:alphaModFix/>
          </a:blip>
          <a:srcRect/>
          <a:stretch/>
        </p:blipFill>
        <p:spPr>
          <a:xfrm>
            <a:off x="7548509" y="15981"/>
            <a:ext cx="1595491" cy="432536"/>
          </a:xfrm>
          <a:prstGeom prst="rect">
            <a:avLst/>
          </a:prstGeom>
          <a:noFill/>
          <a:ln>
            <a:noFill/>
          </a:ln>
        </p:spPr>
      </p:pic>
      <p:pic>
        <p:nvPicPr>
          <p:cNvPr id="8" name="Picture 7">
            <a:extLst>
              <a:ext uri="{FF2B5EF4-FFF2-40B4-BE49-F238E27FC236}">
                <a16:creationId xmlns:a16="http://schemas.microsoft.com/office/drawing/2014/main" id="{4C681218-81FD-8C7A-B022-C98B98F83623}"/>
              </a:ext>
            </a:extLst>
          </p:cNvPr>
          <p:cNvPicPr>
            <a:picLocks noChangeAspect="1"/>
          </p:cNvPicPr>
          <p:nvPr/>
        </p:nvPicPr>
        <p:blipFill>
          <a:blip r:embed="rId5"/>
          <a:stretch>
            <a:fillRect/>
          </a:stretch>
        </p:blipFill>
        <p:spPr>
          <a:xfrm>
            <a:off x="0" y="662745"/>
            <a:ext cx="9144000" cy="3224040"/>
          </a:xfrm>
          <a:prstGeom prst="rect">
            <a:avLst/>
          </a:prstGeom>
        </p:spPr>
      </p:pic>
    </p:spTree>
    <p:extLst>
      <p:ext uri="{BB962C8B-B14F-4D97-AF65-F5344CB8AC3E}">
        <p14:creationId xmlns:p14="http://schemas.microsoft.com/office/powerpoint/2010/main" val="24512861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207170" y="56393"/>
            <a:ext cx="7341339" cy="351234"/>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100"/>
              <a:buNone/>
            </a:pPr>
            <a:r>
              <a:rPr lang="en"/>
              <a:t>Questions</a:t>
            </a:r>
            <a:endParaRPr/>
          </a:p>
        </p:txBody>
      </p:sp>
      <p:sp>
        <p:nvSpPr>
          <p:cNvPr id="225" name="Google Shape;225;p35"/>
          <p:cNvSpPr txBox="1">
            <a:spLocks noGrp="1"/>
          </p:cNvSpPr>
          <p:nvPr>
            <p:ph type="body" idx="1"/>
          </p:nvPr>
        </p:nvSpPr>
        <p:spPr>
          <a:xfrm>
            <a:off x="207169" y="664370"/>
            <a:ext cx="8743950" cy="3930258"/>
          </a:xfrm>
          <a:prstGeom prst="rect">
            <a:avLst/>
          </a:prstGeom>
          <a:noFill/>
          <a:ln>
            <a:noFill/>
          </a:ln>
        </p:spPr>
        <p:txBody>
          <a:bodyPr spcFirstLastPara="1" wrap="square" lIns="68575" tIns="34275" rIns="68575" bIns="34275" anchor="t" anchorCtr="0">
            <a:noAutofit/>
          </a:bodyPr>
          <a:lstStyle/>
          <a:p>
            <a:pPr marL="101600" lvl="1" indent="-101600" algn="l" rtl="0">
              <a:lnSpc>
                <a:spcPct val="100000"/>
              </a:lnSpc>
              <a:spcBef>
                <a:spcPts val="0"/>
              </a:spcBef>
              <a:spcAft>
                <a:spcPts val="0"/>
              </a:spcAft>
              <a:buClr>
                <a:schemeClr val="dk1"/>
              </a:buClr>
              <a:buSzPts val="1400"/>
              <a:buFont typeface="Arial"/>
              <a:buChar char="•"/>
            </a:pPr>
            <a:r>
              <a:rPr lang="en" sz="1400" dirty="0"/>
              <a:t>Open discussions</a:t>
            </a:r>
          </a:p>
        </p:txBody>
      </p:sp>
      <p:pic>
        <p:nvPicPr>
          <p:cNvPr id="226" name="Google Shape;226;p35"/>
          <p:cNvPicPr preferRelativeResize="0"/>
          <p:nvPr/>
        </p:nvPicPr>
        <p:blipFill rotWithShape="1">
          <a:blip r:embed="rId3">
            <a:alphaModFix/>
          </a:blip>
          <a:srcRect/>
          <a:stretch/>
        </p:blipFill>
        <p:spPr>
          <a:xfrm>
            <a:off x="7548509" y="15981"/>
            <a:ext cx="1595491" cy="432536"/>
          </a:xfrm>
          <a:prstGeom prst="rect">
            <a:avLst/>
          </a:prstGeom>
          <a:noFill/>
          <a:ln>
            <a:noFill/>
          </a:ln>
        </p:spPr>
      </p:pic>
      <p:pic>
        <p:nvPicPr>
          <p:cNvPr id="227" name="Google Shape;227;p35"/>
          <p:cNvPicPr preferRelativeResize="0"/>
          <p:nvPr/>
        </p:nvPicPr>
        <p:blipFill rotWithShape="1">
          <a:blip r:embed="rId4">
            <a:alphaModFix/>
          </a:blip>
          <a:srcRect/>
          <a:stretch/>
        </p:blipFill>
        <p:spPr>
          <a:xfrm>
            <a:off x="343660" y="4861094"/>
            <a:ext cx="3729038" cy="271463"/>
          </a:xfrm>
          <a:prstGeom prst="rect">
            <a:avLst/>
          </a:prstGeom>
          <a:noFill/>
          <a:ln>
            <a:noFill/>
          </a:ln>
        </p:spPr>
      </p:pic>
      <p:pic>
        <p:nvPicPr>
          <p:cNvPr id="228" name="Google Shape;228;p35"/>
          <p:cNvPicPr preferRelativeResize="0"/>
          <p:nvPr/>
        </p:nvPicPr>
        <p:blipFill rotWithShape="1">
          <a:blip r:embed="rId4">
            <a:alphaModFix/>
          </a:blip>
          <a:srcRect/>
          <a:stretch/>
        </p:blipFill>
        <p:spPr>
          <a:xfrm>
            <a:off x="5071304" y="4861094"/>
            <a:ext cx="3729038" cy="271463"/>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CF_Kapat_2007Jan_Project">
  <a:themeElements>
    <a:clrScheme name="">
      <a:dk1>
        <a:srgbClr val="000000"/>
      </a:dk1>
      <a:lt1>
        <a:srgbClr val="EAEAEA"/>
      </a:lt1>
      <a:dk2>
        <a:srgbClr val="000000"/>
      </a:dk2>
      <a:lt2>
        <a:srgbClr val="808080"/>
      </a:lt2>
      <a:accent1>
        <a:srgbClr val="00CC99"/>
      </a:accent1>
      <a:accent2>
        <a:srgbClr val="3333CC"/>
      </a:accent2>
      <a:accent3>
        <a:srgbClr val="F3F3F3"/>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1765</TotalTime>
  <Words>1181</Words>
  <Application>Microsoft Office PowerPoint</Application>
  <PresentationFormat>On-screen Show (16:9)</PresentationFormat>
  <Paragraphs>72</Paragraphs>
  <Slides>19</Slides>
  <Notes>19</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19</vt:i4>
      </vt:variant>
    </vt:vector>
  </HeadingPairs>
  <TitlesOfParts>
    <vt:vector size="22" baseType="lpstr">
      <vt:lpstr>Arial</vt:lpstr>
      <vt:lpstr>Simple Light</vt:lpstr>
      <vt:lpstr>1_UCF_Kapat_2007Jan_Project</vt:lpstr>
      <vt:lpstr>L16 – Uncorrelated Track Processing</vt:lpstr>
      <vt:lpstr>Table of Contents</vt:lpstr>
      <vt:lpstr>Project Maturation</vt:lpstr>
      <vt:lpstr>User Interface: Unified Modeling Language Diagram</vt:lpstr>
      <vt:lpstr>OpenEvolve: Maximum Subarray Sum</vt:lpstr>
      <vt:lpstr>OpenEvolve: Inputs</vt:lpstr>
      <vt:lpstr>OpenEvolve: Islands</vt:lpstr>
      <vt:lpstr>OpenEvolve: Evolutions</vt:lpstr>
      <vt:lpstr>OpenEvolve: Outputs</vt:lpstr>
      <vt:lpstr>UCT: Diagram</vt:lpstr>
      <vt:lpstr>UCT: Integration</vt:lpstr>
      <vt:lpstr>UCT: Orbital Association Metrics</vt:lpstr>
      <vt:lpstr>UCT: State Metrics</vt:lpstr>
      <vt:lpstr>UCT: Residual Metrics</vt:lpstr>
      <vt:lpstr>UCT: Binary Metrics</vt:lpstr>
      <vt:lpstr>UCT: OpenEvolve Proposal</vt:lpstr>
      <vt:lpstr>UCT: Questions to Ponder</vt:lpstr>
      <vt:lpstr>UCT: Benchmarking</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 g</dc:creator>
  <cp:lastModifiedBy>Kyle Galang</cp:lastModifiedBy>
  <cp:revision>18</cp:revision>
  <dcterms:modified xsi:type="dcterms:W3CDTF">2025-11-12T21:59:23Z</dcterms:modified>
</cp:coreProperties>
</file>